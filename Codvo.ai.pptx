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253C-BC13-D4ED-8809-0BF7DF6D8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5F19B3-F924-004D-AB49-B9F7E6B04C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0BD52E4-7E4D-7C03-6A22-EC2150D35488}"/>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8B638407-6BC5-C9BA-1EBE-310AD90C32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72F58-A553-3798-3AE3-26A6F3E161C8}"/>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3534432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35B5C-514A-1BC8-381F-5AEAEA6F08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310939-B401-00F6-AEB0-DE42CBF056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9E8AD3-ED3D-489C-7E9E-E8EA6A8DB1F2}"/>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2583E2DE-FE52-DCF1-978F-AB52300F8A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D64F5D-7A11-51A5-82CE-A68E1F9E23E0}"/>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263299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F163-A375-2590-25F9-F7B8802C10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56CF84-509D-A2E4-A69C-DE0605B2E0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C6F67A-D5D0-5675-DD80-BDB30EC94E83}"/>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E970A183-B901-0294-ED6B-C44E2D5C7F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E21CC6-3745-1254-D8C2-960D52644186}"/>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388745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08BE9-DFBA-C6AE-C11A-6950EA69C0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12F875-8ED5-0DB7-27D9-3935D13DCA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7FAB50-8D31-312A-981F-F45310E5B0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6BD414-E091-F010-1E0E-276FD5B96234}"/>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6" name="Footer Placeholder 5">
            <a:extLst>
              <a:ext uri="{FF2B5EF4-FFF2-40B4-BE49-F238E27FC236}">
                <a16:creationId xmlns:a16="http://schemas.microsoft.com/office/drawing/2014/main" id="{F03CAF27-508A-E918-5327-CF9ADBD9B7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CED6BB-300C-D275-CC49-E3784AAD695D}"/>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1423902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B7233-F4E4-1BBA-7CC1-F2AECA742F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2D05C3-83D9-2EED-BDE5-29BD700045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9F2D0E-4635-DC0A-2C25-1C4B08071C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7809A0-F5D0-8C81-DCA7-6CD2D0A024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009702-F03A-A950-A135-22049DC10A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345062-1B3C-B9A6-0816-3658832A58A9}"/>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8" name="Footer Placeholder 7">
            <a:extLst>
              <a:ext uri="{FF2B5EF4-FFF2-40B4-BE49-F238E27FC236}">
                <a16:creationId xmlns:a16="http://schemas.microsoft.com/office/drawing/2014/main" id="{0CAB1746-4E3B-1943-3F7E-430649BEAF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AA2640-18F8-E89E-27E4-CABC74DE3F38}"/>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2244128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73CA-1BFD-BB86-5ACE-B16ACB73C6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DCABF8-00FF-5958-0207-ED09C2389E7E}"/>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4" name="Footer Placeholder 3">
            <a:extLst>
              <a:ext uri="{FF2B5EF4-FFF2-40B4-BE49-F238E27FC236}">
                <a16:creationId xmlns:a16="http://schemas.microsoft.com/office/drawing/2014/main" id="{59791F37-CA61-8AD9-610E-F797ACAB9C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B5DB95-BF05-D159-1209-F1C342787154}"/>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4180283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6E4540-4ADC-7AD5-48AA-2F60E2DE1BD3}"/>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3" name="Footer Placeholder 2">
            <a:extLst>
              <a:ext uri="{FF2B5EF4-FFF2-40B4-BE49-F238E27FC236}">
                <a16:creationId xmlns:a16="http://schemas.microsoft.com/office/drawing/2014/main" id="{F2B32AFC-497C-34D9-921C-C46EEB4DD1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BC40A4-EF5F-B97C-820F-2DC80E59D266}"/>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769242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0549-E136-AA61-830F-47273D3382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1CFB4-DBA1-AA2A-DC38-AF3E91A0D4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329262-6E8C-A507-B5ED-9CF0A73A8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3827B5-AADE-E945-897C-7893306D6293}"/>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6" name="Footer Placeholder 5">
            <a:extLst>
              <a:ext uri="{FF2B5EF4-FFF2-40B4-BE49-F238E27FC236}">
                <a16:creationId xmlns:a16="http://schemas.microsoft.com/office/drawing/2014/main" id="{A69F12F9-188A-B6A1-0747-FD5D3A4D2B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EC86A1-0BC1-6F0C-B35A-0C92D01D86BB}"/>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14584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CA82-A692-DAAB-D005-2AA1F2C08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146EAC-47DE-E0F0-4D0B-078ED5ECB0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BC734-D3D2-7AC4-C55C-EAEC1840FB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45BA77-A317-A1F2-1E47-42CECE99A8EE}"/>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6" name="Footer Placeholder 5">
            <a:extLst>
              <a:ext uri="{FF2B5EF4-FFF2-40B4-BE49-F238E27FC236}">
                <a16:creationId xmlns:a16="http://schemas.microsoft.com/office/drawing/2014/main" id="{46D543E8-61CF-0F9A-04BE-1942334FFC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A47304-6655-11EF-06EB-0A4B6D4171F5}"/>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3725498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3FA4-57A3-DB86-A1DB-8DFF0AD75A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9972EF-6928-7365-C8B8-751A23648B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06ABCA-9C69-1904-9384-9E642FE29254}"/>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279DACC7-CED7-2032-9E21-829FCD2B3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508C48-9E4D-B507-4162-2326B5BA32B3}"/>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81364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4AF19E-5B7C-E814-E317-15A1F91523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D5F6EF-A6A4-E3BE-8B96-55652ABAAD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85F381-7AD3-B579-0936-BB7E3F2C5BE5}"/>
              </a:ext>
            </a:extLst>
          </p:cNvPr>
          <p:cNvSpPr>
            <a:spLocks noGrp="1"/>
          </p:cNvSpPr>
          <p:nvPr>
            <p:ph type="dt" sz="half" idx="10"/>
          </p:nvPr>
        </p:nvSpPr>
        <p:spPr/>
        <p:txBody>
          <a:body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C513B88E-8671-8B4A-F5E9-361CC06D60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AAFF8A-781A-A832-63FE-EC96A93CF8A8}"/>
              </a:ext>
            </a:extLst>
          </p:cNvPr>
          <p:cNvSpPr>
            <a:spLocks noGrp="1"/>
          </p:cNvSpPr>
          <p:nvPr>
            <p:ph type="sldNum" sz="quarter" idx="12"/>
          </p:nvPr>
        </p:nvSpPr>
        <p:spPr/>
        <p:txBody>
          <a:bodyPr/>
          <a:lstStyle/>
          <a:p>
            <a:fld id="{A1974672-4B63-4048-8BB4-7BF6BA278A07}" type="slidenum">
              <a:rPr lang="en-IN" smtClean="0"/>
              <a:t>‹#›</a:t>
            </a:fld>
            <a:endParaRPr lang="en-IN"/>
          </a:p>
        </p:txBody>
      </p:sp>
    </p:spTree>
    <p:extLst>
      <p:ext uri="{BB962C8B-B14F-4D97-AF65-F5344CB8AC3E}">
        <p14:creationId xmlns:p14="http://schemas.microsoft.com/office/powerpoint/2010/main" val="1542923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6E9B39-A53C-3928-646D-95FC007BF3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B2D650-4A04-6575-47E7-EC99778564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D3F613-CF73-61AA-9199-64808A37B9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64B33C-DB27-4953-9B78-4920B91DE143}" type="datetimeFigureOut">
              <a:rPr lang="en-IN" smtClean="0"/>
              <a:t>26-05-2026</a:t>
            </a:fld>
            <a:endParaRPr lang="en-IN"/>
          </a:p>
        </p:txBody>
      </p:sp>
      <p:sp>
        <p:nvSpPr>
          <p:cNvPr id="5" name="Footer Placeholder 4">
            <a:extLst>
              <a:ext uri="{FF2B5EF4-FFF2-40B4-BE49-F238E27FC236}">
                <a16:creationId xmlns:a16="http://schemas.microsoft.com/office/drawing/2014/main" id="{02B74D32-35C2-AD3A-B75E-3CBB0052C1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19E64F8-437B-EC9D-DC34-1F51651ADC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974672-4B63-4048-8BB4-7BF6BA278A07}" type="slidenum">
              <a:rPr lang="en-IN" smtClean="0"/>
              <a:t>‹#›</a:t>
            </a:fld>
            <a:endParaRPr lang="en-IN"/>
          </a:p>
        </p:txBody>
      </p:sp>
    </p:spTree>
    <p:extLst>
      <p:ext uri="{BB962C8B-B14F-4D97-AF65-F5344CB8AC3E}">
        <p14:creationId xmlns:p14="http://schemas.microsoft.com/office/powerpoint/2010/main" val="2378523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3D0FAD-CE96-C844-058B-1EB9A3807A16}"/>
              </a:ext>
            </a:extLst>
          </p:cNvPr>
          <p:cNvGraphicFramePr>
            <a:graphicFrameLocks noGrp="1"/>
          </p:cNvGraphicFramePr>
          <p:nvPr>
            <p:extLst>
              <p:ext uri="{D42A27DB-BD31-4B8C-83A1-F6EECF244321}">
                <p14:modId xmlns:p14="http://schemas.microsoft.com/office/powerpoint/2010/main" val="4128442015"/>
              </p:ext>
            </p:extLst>
          </p:nvPr>
        </p:nvGraphicFramePr>
        <p:xfrm>
          <a:off x="3124200" y="3041174"/>
          <a:ext cx="5943600" cy="1394460"/>
        </p:xfrm>
        <a:graphic>
          <a:graphicData uri="http://schemas.openxmlformats.org/drawingml/2006/table">
            <a:tbl>
              <a:tblPr firstRow="1" firstCol="1" bandRow="1">
                <a:tableStyleId>{5C22544A-7EE6-4342-B048-85BDC9FD1C3A}</a:tableStyleId>
              </a:tblPr>
              <a:tblGrid>
                <a:gridCol w="5943600">
                  <a:extLst>
                    <a:ext uri="{9D8B030D-6E8A-4147-A177-3AD203B41FA5}">
                      <a16:colId xmlns:a16="http://schemas.microsoft.com/office/drawing/2014/main" val="1732953198"/>
                    </a:ext>
                  </a:extLst>
                </a:gridCol>
              </a:tblGrid>
              <a:tr h="0">
                <a:tc>
                  <a:txBody>
                    <a:bodyPr/>
                    <a:lstStyle/>
                    <a:p>
                      <a:pPr algn="ctr">
                        <a:buNone/>
                      </a:pPr>
                      <a:r>
                        <a:rPr lang="en-IN" sz="1200" dirty="0">
                          <a:effectLst/>
                        </a:rPr>
                        <a:t>CODVO.AI Take-Home Assignment</a:t>
                      </a:r>
                      <a:endParaRPr lang="en-IN" sz="1100" dirty="0">
                        <a:effectLst/>
                      </a:endParaRPr>
                    </a:p>
                    <a:p>
                      <a:pPr algn="ctr">
                        <a:spcBef>
                          <a:spcPts val="600"/>
                        </a:spcBef>
                        <a:buNone/>
                      </a:pPr>
                      <a:r>
                        <a:rPr lang="en-IN" sz="2400" dirty="0">
                          <a:effectLst/>
                        </a:rPr>
                        <a:t>Predictive Equipment Failure</a:t>
                      </a:r>
                      <a:endParaRPr lang="en-IN" sz="1100" dirty="0">
                        <a:effectLst/>
                      </a:endParaRPr>
                    </a:p>
                    <a:p>
                      <a:pPr algn="ctr">
                        <a:spcBef>
                          <a:spcPts val="500"/>
                        </a:spcBef>
                        <a:buNone/>
                      </a:pPr>
                      <a:r>
                        <a:rPr lang="en-IN" sz="1300" dirty="0">
                          <a:effectLst/>
                        </a:rPr>
                        <a:t>Industrial Pump Fleet - Remaining Useful Life (RUL) Prediction</a:t>
                      </a:r>
                      <a:endParaRPr lang="en-IN" sz="1100" dirty="0">
                        <a:effectLst/>
                      </a:endParaRPr>
                    </a:p>
                  </a:txBody>
                  <a:tcPr marL="190500" marR="190500" marT="254000" marB="254000"/>
                </a:tc>
                <a:extLst>
                  <a:ext uri="{0D108BD9-81ED-4DB2-BD59-A6C34878D82A}">
                    <a16:rowId xmlns:a16="http://schemas.microsoft.com/office/drawing/2014/main" val="200462264"/>
                  </a:ext>
                </a:extLst>
              </a:tr>
            </a:tbl>
          </a:graphicData>
        </a:graphic>
      </p:graphicFrame>
    </p:spTree>
    <p:extLst>
      <p:ext uri="{BB962C8B-B14F-4D97-AF65-F5344CB8AC3E}">
        <p14:creationId xmlns:p14="http://schemas.microsoft.com/office/powerpoint/2010/main" val="237416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A34F86-362B-8463-BA22-1C38E4F36B29}"/>
              </a:ext>
            </a:extLst>
          </p:cNvPr>
          <p:cNvSpPr txBox="1"/>
          <p:nvPr/>
        </p:nvSpPr>
        <p:spPr>
          <a:xfrm>
            <a:off x="808638" y="386930"/>
            <a:ext cx="9236700" cy="1188950"/>
          </a:xfrm>
          <a:prstGeom prst="rect">
            <a:avLst/>
          </a:prstGeom>
        </p:spPr>
        <p:txBody>
          <a:bodyPr vert="horz" lIns="91440" tIns="45720" rIns="91440" bIns="45720" rtlCol="0" anchor="b">
            <a:normAutofit/>
          </a:bodyPr>
          <a:lstStyle/>
          <a:p>
            <a:pPr>
              <a:lnSpc>
                <a:spcPct val="90000"/>
              </a:lnSpc>
              <a:spcBef>
                <a:spcPct val="0"/>
              </a:spcBef>
              <a:spcAft>
                <a:spcPts val="1000"/>
              </a:spcAft>
            </a:pPr>
            <a:r>
              <a:rPr lang="en-US" sz="3800" b="1" kern="1200">
                <a:solidFill>
                  <a:schemeClr val="tx1"/>
                </a:solidFill>
                <a:effectLst/>
                <a:latin typeface="+mj-lt"/>
                <a:ea typeface="+mj-ea"/>
                <a:cs typeface="+mj-cs"/>
              </a:rPr>
              <a:t>First, The Big Picture — What Are We Building?</a:t>
            </a:r>
          </a:p>
        </p:txBody>
      </p:sp>
      <p:grpSp>
        <p:nvGrpSpPr>
          <p:cNvPr id="25" name="Group 2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5" name="Rectangle 1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8742385-7BB9-DB30-54AF-92AF728CB700}"/>
              </a:ext>
            </a:extLst>
          </p:cNvPr>
          <p:cNvSpPr txBox="1"/>
          <p:nvPr/>
        </p:nvSpPr>
        <p:spPr>
          <a:xfrm>
            <a:off x="737407" y="2266123"/>
            <a:ext cx="10473932" cy="3768918"/>
          </a:xfrm>
          <a:prstGeom prst="rect">
            <a:avLst/>
          </a:prstGeom>
        </p:spPr>
        <p:txBody>
          <a:bodyPr vert="horz" lIns="91440" tIns="45720" rIns="91440" bIns="45720" rtlCol="0" anchor="ctr">
            <a:normAutofit fontScale="92500" lnSpcReduction="20000"/>
          </a:bodyPr>
          <a:lstStyle/>
          <a:p>
            <a:pPr>
              <a:lnSpc>
                <a:spcPct val="90000"/>
              </a:lnSpc>
              <a:spcAft>
                <a:spcPts val="600"/>
              </a:spcAft>
            </a:pPr>
            <a:r>
              <a:rPr lang="en-US" sz="2000" b="1" dirty="0"/>
              <a:t>The Problem: Industrial Pump Failures</a:t>
            </a:r>
            <a:endParaRPr lang="en-US" sz="2000" dirty="0"/>
          </a:p>
          <a:p>
            <a:pPr indent="-228600">
              <a:lnSpc>
                <a:spcPct val="90000"/>
              </a:lnSpc>
              <a:spcAft>
                <a:spcPts val="600"/>
              </a:spcAft>
              <a:buFont typeface="Arial" panose="020B0604020202020204" pitchFamily="34" charset="0"/>
              <a:buChar char="•"/>
            </a:pPr>
            <a:r>
              <a:rPr lang="en-US" sz="2000" dirty="0"/>
              <a:t>Factories run pumps 24/7 — unexpected breakdown = production stop, costly repairs, safety risk</a:t>
            </a:r>
          </a:p>
          <a:p>
            <a:pPr indent="-228600">
              <a:lnSpc>
                <a:spcPct val="90000"/>
              </a:lnSpc>
              <a:spcAft>
                <a:spcPts val="600"/>
              </a:spcAft>
              <a:buFont typeface="Arial" panose="020B0604020202020204" pitchFamily="34" charset="0"/>
              <a:buChar char="•"/>
            </a:pPr>
            <a:r>
              <a:rPr lang="en-US" sz="2000" b="1" dirty="0"/>
              <a:t>Reactive maintenance</a:t>
            </a:r>
            <a:r>
              <a:rPr lang="en-US" sz="2000" dirty="0"/>
              <a:t> (fix when broken) → risky &amp; expensive</a:t>
            </a:r>
          </a:p>
          <a:p>
            <a:pPr indent="-228600">
              <a:lnSpc>
                <a:spcPct val="90000"/>
              </a:lnSpc>
              <a:spcAft>
                <a:spcPts val="600"/>
              </a:spcAft>
              <a:buFont typeface="Arial" panose="020B0604020202020204" pitchFamily="34" charset="0"/>
              <a:buChar char="•"/>
            </a:pPr>
            <a:r>
              <a:rPr lang="en-US" sz="2000" b="1" dirty="0"/>
              <a:t>Preventive maintenance</a:t>
            </a:r>
            <a:r>
              <a:rPr lang="en-US" sz="2000" dirty="0"/>
              <a:t> (replace on schedule) → wasteful, healthy pumps replaced unnecessarily</a:t>
            </a:r>
          </a:p>
          <a:p>
            <a:pPr indent="-228600">
              <a:lnSpc>
                <a:spcPct val="90000"/>
              </a:lnSpc>
              <a:spcAft>
                <a:spcPts val="600"/>
              </a:spcAft>
              <a:buFont typeface="Arial" panose="020B0604020202020204" pitchFamily="34" charset="0"/>
              <a:buChar char="•"/>
            </a:pPr>
            <a:r>
              <a:rPr lang="en-US" sz="2000" b="1" dirty="0"/>
              <a:t>Predictive Maintenance</a:t>
            </a:r>
            <a:r>
              <a:rPr lang="en-US" sz="2000" dirty="0"/>
              <a:t> → use sensor data to predict failure </a:t>
            </a:r>
            <a:r>
              <a:rPr lang="en-US" sz="2000" i="1" dirty="0"/>
              <a:t>before</a:t>
            </a:r>
            <a:r>
              <a:rPr lang="en-US" sz="2000" dirty="0"/>
              <a:t> it happens</a:t>
            </a:r>
          </a:p>
          <a:p>
            <a:pPr indent="-228600">
              <a:lnSpc>
                <a:spcPct val="90000"/>
              </a:lnSpc>
              <a:spcAft>
                <a:spcPts val="600"/>
              </a:spcAft>
              <a:buFont typeface="Arial" panose="020B0604020202020204" pitchFamily="34" charset="0"/>
              <a:buChar char="•"/>
            </a:pPr>
            <a:endParaRPr lang="en-US" sz="2000" b="1" dirty="0"/>
          </a:p>
          <a:p>
            <a:pPr indent="-228600">
              <a:lnSpc>
                <a:spcPct val="90000"/>
              </a:lnSpc>
              <a:spcAft>
                <a:spcPts val="600"/>
              </a:spcAft>
              <a:buFont typeface="Arial" panose="020B0604020202020204" pitchFamily="34" charset="0"/>
              <a:buChar char="•"/>
            </a:pPr>
            <a:endParaRPr lang="en-US" sz="2000" b="1" dirty="0"/>
          </a:p>
          <a:p>
            <a:pPr>
              <a:lnSpc>
                <a:spcPct val="90000"/>
              </a:lnSpc>
              <a:spcAft>
                <a:spcPts val="600"/>
              </a:spcAft>
            </a:pPr>
            <a:r>
              <a:rPr lang="en-US" sz="2000" b="1" dirty="0"/>
              <a:t>The Solution: Predict Remaining Useful Life (RUL)</a:t>
            </a:r>
            <a:endParaRPr lang="en-US" sz="2000" dirty="0"/>
          </a:p>
          <a:p>
            <a:pPr indent="-228600">
              <a:lnSpc>
                <a:spcPct val="90000"/>
              </a:lnSpc>
              <a:spcAft>
                <a:spcPts val="600"/>
              </a:spcAft>
              <a:buFont typeface="Arial" panose="020B0604020202020204" pitchFamily="34" charset="0"/>
              <a:buChar char="•"/>
            </a:pPr>
            <a:r>
              <a:rPr lang="en-US" sz="2000" b="1" dirty="0"/>
              <a:t>RUL</a:t>
            </a:r>
            <a:r>
              <a:rPr lang="en-US" sz="2000" dirty="0"/>
              <a:t> = cycles/hours left before a machine is likely to fail</a:t>
            </a:r>
          </a:p>
          <a:p>
            <a:pPr indent="-228600">
              <a:lnSpc>
                <a:spcPct val="90000"/>
              </a:lnSpc>
              <a:spcAft>
                <a:spcPts val="600"/>
              </a:spcAft>
              <a:buFont typeface="Arial" panose="020B0604020202020204" pitchFamily="34" charset="0"/>
              <a:buChar char="•"/>
            </a:pPr>
            <a:r>
              <a:rPr lang="en-US" sz="2000" dirty="0"/>
              <a:t>Sensors tracked: temperature, vibration, pressure, and more</a:t>
            </a:r>
          </a:p>
          <a:p>
            <a:pPr indent="-228600">
              <a:lnSpc>
                <a:spcPct val="90000"/>
              </a:lnSpc>
              <a:spcAft>
                <a:spcPts val="600"/>
              </a:spcAft>
              <a:buFont typeface="Arial" panose="020B0604020202020204" pitchFamily="34" charset="0"/>
              <a:buChar char="•"/>
            </a:pPr>
            <a:r>
              <a:rPr lang="en-US" sz="2000" dirty="0"/>
              <a:t>Model trained on </a:t>
            </a:r>
            <a:r>
              <a:rPr lang="en-US" sz="2000" b="1" dirty="0"/>
              <a:t>80 pumps</a:t>
            </a:r>
            <a:r>
              <a:rPr lang="en-US" sz="2000" dirty="0"/>
              <a:t> — learns the sensor patterns that appear before failure</a:t>
            </a:r>
          </a:p>
          <a:p>
            <a:pPr indent="-228600">
              <a:lnSpc>
                <a:spcPct val="90000"/>
              </a:lnSpc>
              <a:spcAft>
                <a:spcPts val="600"/>
              </a:spcAft>
              <a:buFont typeface="Arial" panose="020B0604020202020204" pitchFamily="34" charset="0"/>
              <a:buChar char="•"/>
            </a:pPr>
            <a:r>
              <a:rPr lang="en-US" sz="2000" dirty="0"/>
              <a:t>Output: </a:t>
            </a:r>
            <a:r>
              <a:rPr lang="en-US" sz="2000" i="1" dirty="0"/>
              <a:t>"This pump will fail in ~47 cycles"</a:t>
            </a:r>
            <a:r>
              <a:rPr lang="en-US" sz="2000" dirty="0"/>
              <a:t> → maintenance scheduled at exactly the right time</a:t>
            </a:r>
          </a:p>
        </p:txBody>
      </p:sp>
    </p:spTree>
    <p:extLst>
      <p:ext uri="{BB962C8B-B14F-4D97-AF65-F5344CB8AC3E}">
        <p14:creationId xmlns:p14="http://schemas.microsoft.com/office/powerpoint/2010/main" val="3750790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AA44ECF-A205-E6D3-CDCE-185AFF2DFAA6}"/>
              </a:ext>
            </a:extLst>
          </p:cNvPr>
          <p:cNvSpPr txBox="1"/>
          <p:nvPr/>
        </p:nvSpPr>
        <p:spPr>
          <a:xfrm>
            <a:off x="645064" y="525982"/>
            <a:ext cx="4282983" cy="1200361"/>
          </a:xfrm>
          <a:prstGeom prst="rect">
            <a:avLst/>
          </a:prstGeom>
        </p:spPr>
        <p:txBody>
          <a:bodyPr vert="horz" lIns="91440" tIns="45720" rIns="91440" bIns="45720" rtlCol="0" anchor="b">
            <a:normAutofit/>
          </a:bodyPr>
          <a:lstStyle/>
          <a:p>
            <a:pPr>
              <a:lnSpc>
                <a:spcPct val="90000"/>
              </a:lnSpc>
              <a:spcBef>
                <a:spcPct val="0"/>
              </a:spcBef>
              <a:spcAft>
                <a:spcPts val="1000"/>
              </a:spcAft>
            </a:pPr>
            <a:r>
              <a:rPr lang="en-US" sz="3300" b="1" kern="1200">
                <a:solidFill>
                  <a:schemeClr val="tx1"/>
                </a:solidFill>
                <a:effectLst/>
                <a:latin typeface="+mj-lt"/>
                <a:ea typeface="+mj-ea"/>
                <a:cs typeface="+mj-cs"/>
              </a:rPr>
              <a:t>Problem Framing &amp; Architecture Decision </a:t>
            </a:r>
          </a:p>
        </p:txBody>
      </p:sp>
      <p:sp>
        <p:nvSpPr>
          <p:cNvPr id="14" name="Rectangle 1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D59E69F-B171-33D1-31C4-023A0218FADD}"/>
              </a:ext>
            </a:extLst>
          </p:cNvPr>
          <p:cNvSpPr txBox="1"/>
          <p:nvPr/>
        </p:nvSpPr>
        <p:spPr>
          <a:xfrm>
            <a:off x="645066" y="2031101"/>
            <a:ext cx="4282984" cy="3511943"/>
          </a:xfrm>
          <a:prstGeom prst="rect">
            <a:avLst/>
          </a:prstGeom>
        </p:spPr>
        <p:txBody>
          <a:bodyPr vert="horz" lIns="91440" tIns="45720" rIns="91440" bIns="45720" rtlCol="0" anchor="ctr">
            <a:normAutofit fontScale="92500" lnSpcReduction="20000"/>
          </a:bodyPr>
          <a:lstStyle/>
          <a:p>
            <a:pPr>
              <a:lnSpc>
                <a:spcPct val="90000"/>
              </a:lnSpc>
              <a:spcAft>
                <a:spcPts val="600"/>
              </a:spcAft>
            </a:pPr>
            <a:r>
              <a:rPr lang="en-US" b="1" dirty="0"/>
              <a:t>Problem Framing: What Are We Predicting?</a:t>
            </a:r>
            <a:endParaRPr lang="en-US" dirty="0"/>
          </a:p>
          <a:p>
            <a:pPr indent="-228600">
              <a:lnSpc>
                <a:spcPct val="90000"/>
              </a:lnSpc>
              <a:spcAft>
                <a:spcPts val="600"/>
              </a:spcAft>
              <a:buFont typeface="Arial" panose="020B0604020202020204" pitchFamily="34" charset="0"/>
              <a:buChar char="•"/>
            </a:pPr>
            <a:r>
              <a:rPr lang="en-US" i="1" dirty="0"/>
              <a:t>Given a pump's sensor history, how many operating cycles remain before the next failure — early enough to raise a work order?</a:t>
            </a:r>
            <a:br>
              <a:rPr lang="en-US" dirty="0"/>
            </a:br>
            <a:endParaRPr lang="en-US" dirty="0"/>
          </a:p>
          <a:p>
            <a:pPr>
              <a:lnSpc>
                <a:spcPct val="90000"/>
              </a:lnSpc>
              <a:spcAft>
                <a:spcPts val="600"/>
              </a:spcAft>
            </a:pPr>
            <a:r>
              <a:rPr lang="en-US" b="1" dirty="0"/>
              <a:t>Four Options Evaluated</a:t>
            </a:r>
            <a:br>
              <a:rPr lang="en-US" dirty="0"/>
            </a:br>
            <a:endParaRPr lang="en-US" dirty="0"/>
          </a:p>
          <a:p>
            <a:pPr indent="-228600">
              <a:lnSpc>
                <a:spcPct val="90000"/>
              </a:lnSpc>
              <a:spcAft>
                <a:spcPts val="600"/>
              </a:spcAft>
              <a:buFont typeface="Arial" panose="020B0604020202020204" pitchFamily="34" charset="0"/>
              <a:buChar char="•"/>
            </a:pPr>
            <a:r>
              <a:rPr lang="en-US" b="1" dirty="0"/>
              <a:t>Why RUL Regression Wins</a:t>
            </a:r>
            <a:endParaRPr lang="en-US" dirty="0"/>
          </a:p>
          <a:p>
            <a:pPr indent="-228600">
              <a:lnSpc>
                <a:spcPct val="90000"/>
              </a:lnSpc>
              <a:spcAft>
                <a:spcPts val="600"/>
              </a:spcAft>
              <a:buFont typeface="Arial" panose="020B0604020202020204" pitchFamily="34" charset="0"/>
              <a:buChar char="•"/>
            </a:pPr>
            <a:r>
              <a:rPr lang="en-US" dirty="0"/>
              <a:t>Outputs a </a:t>
            </a:r>
            <a:r>
              <a:rPr lang="en-US" b="1" dirty="0"/>
              <a:t>continuous number</a:t>
            </a:r>
            <a:r>
              <a:rPr lang="en-US" dirty="0"/>
              <a:t> every cycle → tells planners exactly how much time they have</a:t>
            </a:r>
          </a:p>
          <a:p>
            <a:pPr indent="-228600">
              <a:lnSpc>
                <a:spcPct val="90000"/>
              </a:lnSpc>
              <a:spcAft>
                <a:spcPts val="600"/>
              </a:spcAft>
              <a:buFont typeface="Arial" panose="020B0604020202020204" pitchFamily="34" charset="0"/>
              <a:buChar char="•"/>
            </a:pPr>
            <a:r>
              <a:rPr lang="en-US" dirty="0"/>
              <a:t>Answers </a:t>
            </a:r>
            <a:r>
              <a:rPr lang="en-US" i="1" dirty="0"/>
              <a:t>"when will it fail?"</a:t>
            </a:r>
            <a:r>
              <a:rPr lang="en-US" dirty="0"/>
              <a:t> not just </a:t>
            </a:r>
            <a:r>
              <a:rPr lang="en-US" i="1" dirty="0"/>
              <a:t>"will it fail?"</a:t>
            </a:r>
            <a:endParaRPr lang="en-US" dirty="0"/>
          </a:p>
          <a:p>
            <a:pPr indent="-228600">
              <a:lnSpc>
                <a:spcPct val="90000"/>
              </a:lnSpc>
              <a:spcAft>
                <a:spcPts val="600"/>
              </a:spcAft>
              <a:buFont typeface="Arial" panose="020B0604020202020204" pitchFamily="34" charset="0"/>
              <a:buChar char="•"/>
            </a:pPr>
            <a:r>
              <a:rPr lang="en-US" dirty="0"/>
              <a:t>Directly actionable for scheduling maintenance windows</a:t>
            </a:r>
          </a:p>
        </p:txBody>
      </p:sp>
      <p:sp>
        <p:nvSpPr>
          <p:cNvPr id="16" name="Rectangle 1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1E5DBCF0-531F-26BC-7314-AAE3A2C6F59D}"/>
              </a:ext>
            </a:extLst>
          </p:cNvPr>
          <p:cNvGraphicFramePr>
            <a:graphicFrameLocks noGrp="1"/>
          </p:cNvGraphicFramePr>
          <p:nvPr>
            <p:extLst>
              <p:ext uri="{D42A27DB-BD31-4B8C-83A1-F6EECF244321}">
                <p14:modId xmlns:p14="http://schemas.microsoft.com/office/powerpoint/2010/main" val="4267105640"/>
              </p:ext>
            </p:extLst>
          </p:nvPr>
        </p:nvGraphicFramePr>
        <p:xfrm>
          <a:off x="5987738" y="1628195"/>
          <a:ext cx="5628019" cy="3368742"/>
        </p:xfrm>
        <a:graphic>
          <a:graphicData uri="http://schemas.openxmlformats.org/drawingml/2006/table">
            <a:tbl>
              <a:tblPr>
                <a:tableStyleId>{5C22544A-7EE6-4342-B048-85BDC9FD1C3A}</a:tableStyleId>
              </a:tblPr>
              <a:tblGrid>
                <a:gridCol w="1635243">
                  <a:extLst>
                    <a:ext uri="{9D8B030D-6E8A-4147-A177-3AD203B41FA5}">
                      <a16:colId xmlns:a16="http://schemas.microsoft.com/office/drawing/2014/main" val="2325329928"/>
                    </a:ext>
                  </a:extLst>
                </a:gridCol>
                <a:gridCol w="1892577">
                  <a:extLst>
                    <a:ext uri="{9D8B030D-6E8A-4147-A177-3AD203B41FA5}">
                      <a16:colId xmlns:a16="http://schemas.microsoft.com/office/drawing/2014/main" val="960399069"/>
                    </a:ext>
                  </a:extLst>
                </a:gridCol>
                <a:gridCol w="2100199">
                  <a:extLst>
                    <a:ext uri="{9D8B030D-6E8A-4147-A177-3AD203B41FA5}">
                      <a16:colId xmlns:a16="http://schemas.microsoft.com/office/drawing/2014/main" val="2967396027"/>
                    </a:ext>
                  </a:extLst>
                </a:gridCol>
              </a:tblGrid>
              <a:tr h="370562">
                <a:tc>
                  <a:txBody>
                    <a:bodyPr/>
                    <a:lstStyle/>
                    <a:p>
                      <a:pPr>
                        <a:buNone/>
                      </a:pPr>
                      <a:r>
                        <a:rPr lang="en-IN" sz="1700"/>
                        <a:t>Option</a:t>
                      </a:r>
                    </a:p>
                  </a:txBody>
                  <a:tcPr marL="84218" marR="84218" marT="42109" marB="42109" anchor="ctr"/>
                </a:tc>
                <a:tc>
                  <a:txBody>
                    <a:bodyPr/>
                    <a:lstStyle/>
                    <a:p>
                      <a:pPr>
                        <a:buNone/>
                      </a:pPr>
                      <a:r>
                        <a:rPr lang="en-IN" sz="1700"/>
                        <a:t>Approach</a:t>
                      </a:r>
                    </a:p>
                  </a:txBody>
                  <a:tcPr marL="84218" marR="84218" marT="42109" marB="42109" anchor="ctr"/>
                </a:tc>
                <a:tc>
                  <a:txBody>
                    <a:bodyPr/>
                    <a:lstStyle/>
                    <a:p>
                      <a:pPr>
                        <a:buNone/>
                      </a:pPr>
                      <a:r>
                        <a:rPr lang="en-IN" sz="1700"/>
                        <a:t>Decision</a:t>
                      </a:r>
                    </a:p>
                  </a:txBody>
                  <a:tcPr marL="84218" marR="84218" marT="42109" marB="42109" anchor="ctr"/>
                </a:tc>
                <a:extLst>
                  <a:ext uri="{0D108BD9-81ED-4DB2-BD59-A6C34878D82A}">
                    <a16:rowId xmlns:a16="http://schemas.microsoft.com/office/drawing/2014/main" val="2263534259"/>
                  </a:ext>
                </a:extLst>
              </a:tr>
              <a:tr h="875873">
                <a:tc>
                  <a:txBody>
                    <a:bodyPr/>
                    <a:lstStyle/>
                    <a:p>
                      <a:pPr>
                        <a:buNone/>
                      </a:pPr>
                      <a:r>
                        <a:rPr lang="en-IN" sz="1700" b="1"/>
                        <a:t>A — RUL Regression</a:t>
                      </a:r>
                      <a:endParaRPr lang="en-IN" sz="1700"/>
                    </a:p>
                  </a:txBody>
                  <a:tcPr marL="84218" marR="84218" marT="42109" marB="42109" anchor="ctr"/>
                </a:tc>
                <a:tc>
                  <a:txBody>
                    <a:bodyPr/>
                    <a:lstStyle/>
                    <a:p>
                      <a:pPr>
                        <a:buNone/>
                      </a:pPr>
                      <a:r>
                        <a:rPr lang="en-IN" sz="1700"/>
                        <a:t>Predict exact cycles remaining (e.g. 47)</a:t>
                      </a:r>
                    </a:p>
                  </a:txBody>
                  <a:tcPr marL="84218" marR="84218" marT="42109" marB="42109" anchor="ctr"/>
                </a:tc>
                <a:tc>
                  <a:txBody>
                    <a:bodyPr/>
                    <a:lstStyle/>
                    <a:p>
                      <a:pPr>
                        <a:buNone/>
                      </a:pPr>
                      <a:r>
                        <a:rPr lang="en-IN" sz="1700"/>
                        <a:t>✅ </a:t>
                      </a:r>
                      <a:r>
                        <a:rPr lang="en-IN" sz="1700" b="1"/>
                        <a:t>Chosen</a:t>
                      </a:r>
                      <a:endParaRPr lang="en-IN" sz="1700"/>
                    </a:p>
                  </a:txBody>
                  <a:tcPr marL="84218" marR="84218" marT="42109" marB="42109" anchor="ctr"/>
                </a:tc>
                <a:extLst>
                  <a:ext uri="{0D108BD9-81ED-4DB2-BD59-A6C34878D82A}">
                    <a16:rowId xmlns:a16="http://schemas.microsoft.com/office/drawing/2014/main" val="929804130"/>
                  </a:ext>
                </a:extLst>
              </a:tr>
              <a:tr h="875873">
                <a:tc>
                  <a:txBody>
                    <a:bodyPr/>
                    <a:lstStyle/>
                    <a:p>
                      <a:pPr>
                        <a:buNone/>
                      </a:pPr>
                      <a:r>
                        <a:rPr lang="en-IN" sz="1700"/>
                        <a:t>B — Failure-Window Classification</a:t>
                      </a:r>
                    </a:p>
                  </a:txBody>
                  <a:tcPr marL="84218" marR="84218" marT="42109" marB="42109" anchor="ctr"/>
                </a:tc>
                <a:tc>
                  <a:txBody>
                    <a:bodyPr/>
                    <a:lstStyle/>
                    <a:p>
                      <a:pPr>
                        <a:buNone/>
                      </a:pPr>
                      <a:r>
                        <a:rPr lang="en-IN" sz="1700"/>
                        <a:t>Yes/No: will it fail within N cycles?</a:t>
                      </a:r>
                    </a:p>
                  </a:txBody>
                  <a:tcPr marL="84218" marR="84218" marT="42109" marB="42109" anchor="ctr"/>
                </a:tc>
                <a:tc>
                  <a:txBody>
                    <a:bodyPr/>
                    <a:lstStyle/>
                    <a:p>
                      <a:pPr>
                        <a:buNone/>
                      </a:pPr>
                      <a:r>
                        <a:rPr lang="en-IN" sz="1700" dirty="0"/>
                        <a:t>❌ Doesn't say when</a:t>
                      </a:r>
                    </a:p>
                  </a:txBody>
                  <a:tcPr marL="84218" marR="84218" marT="42109" marB="42109" anchor="ctr"/>
                </a:tc>
                <a:extLst>
                  <a:ext uri="{0D108BD9-81ED-4DB2-BD59-A6C34878D82A}">
                    <a16:rowId xmlns:a16="http://schemas.microsoft.com/office/drawing/2014/main" val="3529940694"/>
                  </a:ext>
                </a:extLst>
              </a:tr>
              <a:tr h="623217">
                <a:tc>
                  <a:txBody>
                    <a:bodyPr/>
                    <a:lstStyle/>
                    <a:p>
                      <a:pPr>
                        <a:buNone/>
                      </a:pPr>
                      <a:r>
                        <a:rPr lang="en-IN" sz="1700"/>
                        <a:t>C — Survival / Hazard Model</a:t>
                      </a:r>
                    </a:p>
                  </a:txBody>
                  <a:tcPr marL="84218" marR="84218" marT="42109" marB="42109" anchor="ctr"/>
                </a:tc>
                <a:tc>
                  <a:txBody>
                    <a:bodyPr/>
                    <a:lstStyle/>
                    <a:p>
                      <a:pPr>
                        <a:buNone/>
                      </a:pPr>
                      <a:r>
                        <a:rPr lang="en-IN" sz="1700"/>
                        <a:t>Probabilistic time-to-failure curve</a:t>
                      </a:r>
                    </a:p>
                  </a:txBody>
                  <a:tcPr marL="84218" marR="84218" marT="42109" marB="42109" anchor="ctr"/>
                </a:tc>
                <a:tc>
                  <a:txBody>
                    <a:bodyPr/>
                    <a:lstStyle/>
                    <a:p>
                      <a:pPr>
                        <a:buNone/>
                      </a:pPr>
                      <a:r>
                        <a:rPr lang="en-IN" sz="1700"/>
                        <a:t>❌ Only 72 failures — too few</a:t>
                      </a:r>
                    </a:p>
                  </a:txBody>
                  <a:tcPr marL="84218" marR="84218" marT="42109" marB="42109" anchor="ctr"/>
                </a:tc>
                <a:extLst>
                  <a:ext uri="{0D108BD9-81ED-4DB2-BD59-A6C34878D82A}">
                    <a16:rowId xmlns:a16="http://schemas.microsoft.com/office/drawing/2014/main" val="464431057"/>
                  </a:ext>
                </a:extLst>
              </a:tr>
              <a:tr h="623217">
                <a:tc>
                  <a:txBody>
                    <a:bodyPr/>
                    <a:lstStyle/>
                    <a:p>
                      <a:pPr>
                        <a:buNone/>
                      </a:pPr>
                      <a:r>
                        <a:rPr lang="en-IN" sz="1700"/>
                        <a:t>D — Custom Alternative</a:t>
                      </a:r>
                    </a:p>
                  </a:txBody>
                  <a:tcPr marL="84218" marR="84218" marT="42109" marB="42109" anchor="ctr"/>
                </a:tc>
                <a:tc>
                  <a:txBody>
                    <a:bodyPr/>
                    <a:lstStyle/>
                    <a:p>
                      <a:pPr>
                        <a:buNone/>
                      </a:pPr>
                      <a:r>
                        <a:rPr lang="en-IN" sz="1700"/>
                        <a:t>Any justified novel approach</a:t>
                      </a:r>
                    </a:p>
                  </a:txBody>
                  <a:tcPr marL="84218" marR="84218" marT="42109" marB="42109" anchor="ctr"/>
                </a:tc>
                <a:tc>
                  <a:txBody>
                    <a:bodyPr/>
                    <a:lstStyle/>
                    <a:p>
                      <a:pPr>
                        <a:buNone/>
                      </a:pPr>
                      <a:r>
                        <a:rPr lang="en-IN" sz="1700" dirty="0"/>
                        <a:t>❌ Nothing superior found</a:t>
                      </a:r>
                    </a:p>
                  </a:txBody>
                  <a:tcPr marL="84218" marR="84218" marT="42109" marB="42109" anchor="ctr"/>
                </a:tc>
                <a:extLst>
                  <a:ext uri="{0D108BD9-81ED-4DB2-BD59-A6C34878D82A}">
                    <a16:rowId xmlns:a16="http://schemas.microsoft.com/office/drawing/2014/main" val="3608610336"/>
                  </a:ext>
                </a:extLst>
              </a:tr>
            </a:tbl>
          </a:graphicData>
        </a:graphic>
      </p:graphicFrame>
    </p:spTree>
    <p:extLst>
      <p:ext uri="{BB962C8B-B14F-4D97-AF65-F5344CB8AC3E}">
        <p14:creationId xmlns:p14="http://schemas.microsoft.com/office/powerpoint/2010/main" val="3462575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C159D68-248E-0145-8DFF-0B2A8DEF26BC}"/>
              </a:ext>
            </a:extLst>
          </p:cNvPr>
          <p:cNvSpPr txBox="1"/>
          <p:nvPr/>
        </p:nvSpPr>
        <p:spPr>
          <a:xfrm>
            <a:off x="645064" y="525982"/>
            <a:ext cx="4282983" cy="1200361"/>
          </a:xfrm>
          <a:prstGeom prst="rect">
            <a:avLst/>
          </a:prstGeom>
        </p:spPr>
        <p:txBody>
          <a:bodyPr vert="horz" lIns="91440" tIns="45720" rIns="91440" bIns="45720" rtlCol="0" anchor="b">
            <a:normAutofit/>
          </a:bodyPr>
          <a:lstStyle/>
          <a:p>
            <a:pPr>
              <a:lnSpc>
                <a:spcPct val="90000"/>
              </a:lnSpc>
              <a:spcBef>
                <a:spcPct val="0"/>
              </a:spcBef>
              <a:spcAft>
                <a:spcPts val="750"/>
              </a:spcAft>
            </a:pPr>
            <a:r>
              <a:rPr lang="en-US" sz="2500" b="1" kern="1200" dirty="0">
                <a:solidFill>
                  <a:schemeClr val="tx1"/>
                </a:solidFill>
                <a:effectLst/>
                <a:latin typeface="+mj-lt"/>
                <a:ea typeface="+mj-ea"/>
                <a:cs typeface="+mj-cs"/>
              </a:rPr>
              <a:t>Why Piecewise-Linear RUL? (The Most Important Design Decision)</a:t>
            </a:r>
          </a:p>
        </p:txBody>
      </p:sp>
      <p:sp>
        <p:nvSpPr>
          <p:cNvPr id="34" name="Rectangle 3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E37A79E-50BB-E188-BD99-CB39C7887AAF}"/>
              </a:ext>
            </a:extLst>
          </p:cNvPr>
          <p:cNvSpPr txBox="1"/>
          <p:nvPr/>
        </p:nvSpPr>
        <p:spPr>
          <a:xfrm>
            <a:off x="5861772" y="354959"/>
            <a:ext cx="5868479" cy="5656880"/>
          </a:xfrm>
          <a:prstGeom prst="rect">
            <a:avLst/>
          </a:prstGeom>
        </p:spPr>
        <p:txBody>
          <a:bodyPr vert="horz" lIns="91440" tIns="45720" rIns="91440" bIns="45720" rtlCol="0" anchor="ctr">
            <a:normAutofit fontScale="92500" lnSpcReduction="20000"/>
          </a:bodyPr>
          <a:lstStyle/>
          <a:p>
            <a:pPr>
              <a:lnSpc>
                <a:spcPct val="90000"/>
              </a:lnSpc>
              <a:spcAft>
                <a:spcPts val="600"/>
              </a:spcAft>
            </a:pPr>
            <a:r>
              <a:rPr lang="en-US" sz="2000" b="1" dirty="0"/>
              <a:t>Piecewise-Linear RUL — The Key Design Decision</a:t>
            </a:r>
            <a:endParaRPr lang="en-US" sz="2000" dirty="0"/>
          </a:p>
          <a:p>
            <a:pPr>
              <a:lnSpc>
                <a:spcPct val="90000"/>
              </a:lnSpc>
              <a:spcAft>
                <a:spcPts val="600"/>
              </a:spcAft>
            </a:pPr>
            <a:r>
              <a:rPr lang="en-US" sz="2000" i="1" dirty="0"/>
              <a:t>A pump with 350 cycles left and one with 200 cycles left look identical on sensors — both are perfectly healthy. The model has nothing to learn from this difference.</a:t>
            </a:r>
            <a:br>
              <a:rPr lang="en-US" sz="2000" dirty="0"/>
            </a:br>
            <a:endParaRPr lang="en-US" sz="2000" dirty="0"/>
          </a:p>
          <a:p>
            <a:pPr>
              <a:lnSpc>
                <a:spcPct val="90000"/>
              </a:lnSpc>
              <a:spcAft>
                <a:spcPts val="600"/>
              </a:spcAft>
            </a:pPr>
            <a:r>
              <a:rPr lang="en-US" sz="2000" b="1" dirty="0"/>
              <a:t>The Fix: Cap RUL at RUL_MAX</a:t>
            </a:r>
            <a:endParaRPr lang="en-US" sz="2000" dirty="0"/>
          </a:p>
          <a:p>
            <a:pPr>
              <a:lnSpc>
                <a:spcPct val="90000"/>
              </a:lnSpc>
              <a:spcAft>
                <a:spcPts val="600"/>
              </a:spcAft>
            </a:pPr>
            <a:r>
              <a:rPr lang="en-US" sz="2000" dirty="0"/>
              <a:t>RUL label = min(actual remaining cycles, RUL_MAX)</a:t>
            </a:r>
          </a:p>
          <a:p>
            <a:pPr>
              <a:lnSpc>
                <a:spcPct val="90000"/>
              </a:lnSpc>
              <a:spcAft>
                <a:spcPts val="600"/>
              </a:spcAft>
            </a:pPr>
            <a:endParaRPr lang="en-US" sz="2000" dirty="0"/>
          </a:p>
          <a:p>
            <a:pPr>
              <a:lnSpc>
                <a:spcPct val="90000"/>
              </a:lnSpc>
              <a:spcAft>
                <a:spcPts val="600"/>
              </a:spcAft>
            </a:pPr>
            <a:r>
              <a:rPr lang="en-US" sz="2000" b="1" dirty="0"/>
              <a:t>Why This Works</a:t>
            </a:r>
            <a:endParaRPr lang="en-US" sz="2000" dirty="0"/>
          </a:p>
          <a:p>
            <a:pPr>
              <a:lnSpc>
                <a:spcPct val="90000"/>
              </a:lnSpc>
              <a:spcAft>
                <a:spcPts val="600"/>
              </a:spcAft>
            </a:pPr>
            <a:r>
              <a:rPr lang="en-US" sz="2000" dirty="0"/>
              <a:t>✅ Model only trains on the </a:t>
            </a:r>
            <a:r>
              <a:rPr lang="en-US" sz="2000" b="1" dirty="0"/>
              <a:t>degradation window</a:t>
            </a:r>
            <a:r>
              <a:rPr lang="en-US" sz="2000" dirty="0"/>
              <a:t> (last 100–150 cycles) — where sensors </a:t>
            </a:r>
            <a:r>
              <a:rPr lang="en-US" sz="2000" i="1" dirty="0"/>
              <a:t>actually change</a:t>
            </a:r>
            <a:endParaRPr lang="en-US" sz="2000" dirty="0"/>
          </a:p>
          <a:p>
            <a:pPr>
              <a:lnSpc>
                <a:spcPct val="90000"/>
              </a:lnSpc>
              <a:spcAft>
                <a:spcPts val="600"/>
              </a:spcAft>
            </a:pPr>
            <a:r>
              <a:rPr lang="en-US" sz="2000" dirty="0"/>
              <a:t>✅ Removes uninformative early-life data → </a:t>
            </a:r>
            <a:r>
              <a:rPr lang="en-US" sz="2000" b="1" dirty="0"/>
              <a:t>signal-to-noise ratio improves dramatically</a:t>
            </a:r>
            <a:endParaRPr lang="en-US" sz="2000" dirty="0"/>
          </a:p>
          <a:p>
            <a:pPr>
              <a:lnSpc>
                <a:spcPct val="90000"/>
              </a:lnSpc>
              <a:spcAft>
                <a:spcPts val="600"/>
              </a:spcAft>
            </a:pPr>
            <a:r>
              <a:rPr lang="en-US" sz="2000" dirty="0"/>
              <a:t>✅ Honest output: </a:t>
            </a:r>
            <a:r>
              <a:rPr lang="en-US" sz="2000" i="1" dirty="0"/>
              <a:t>"This pump has 45 cycles left"</a:t>
            </a:r>
            <a:r>
              <a:rPr lang="en-US" sz="2000" dirty="0"/>
              <a:t> vs trying to distinguish 350 from 200 (impossible from sensor data)</a:t>
            </a:r>
          </a:p>
          <a:p>
            <a:pPr>
              <a:lnSpc>
                <a:spcPct val="90000"/>
              </a:lnSpc>
              <a:spcAft>
                <a:spcPts val="600"/>
              </a:spcAft>
            </a:pPr>
            <a:r>
              <a:rPr lang="en-US" sz="2000" dirty="0"/>
              <a:t>✅ Standard practice in PHM (</a:t>
            </a:r>
            <a:r>
              <a:rPr lang="en-IN" dirty="0"/>
              <a:t>Prognostics and Health Management) </a:t>
            </a:r>
            <a:r>
              <a:rPr lang="en-US" sz="2000" dirty="0"/>
              <a:t>literature — validated on NASA C-MAPSS benchmark</a:t>
            </a:r>
          </a:p>
          <a:p>
            <a:pPr>
              <a:lnSpc>
                <a:spcPct val="90000"/>
              </a:lnSpc>
              <a:spcAft>
                <a:spcPts val="600"/>
              </a:spcAft>
            </a:pPr>
            <a:endParaRPr lang="en-US" sz="2000" b="1" dirty="0"/>
          </a:p>
          <a:p>
            <a:pPr>
              <a:lnSpc>
                <a:spcPct val="90000"/>
              </a:lnSpc>
              <a:spcAft>
                <a:spcPts val="600"/>
              </a:spcAft>
            </a:pPr>
            <a:r>
              <a:rPr lang="en-US" sz="2000" b="1" dirty="0"/>
              <a:t>PHM</a:t>
            </a:r>
            <a:r>
              <a:rPr lang="en-US" sz="2000" dirty="0"/>
              <a:t> = Prognostics and Health Management — the engineering field for predicting equipment failure</a:t>
            </a:r>
          </a:p>
        </p:txBody>
      </p:sp>
      <p:sp>
        <p:nvSpPr>
          <p:cNvPr id="9" name="TextBox 8">
            <a:extLst>
              <a:ext uri="{FF2B5EF4-FFF2-40B4-BE49-F238E27FC236}">
                <a16:creationId xmlns:a16="http://schemas.microsoft.com/office/drawing/2014/main" id="{4D7F1DE8-CF3A-96BE-9AB6-080766442C83}"/>
              </a:ext>
            </a:extLst>
          </p:cNvPr>
          <p:cNvSpPr txBox="1"/>
          <p:nvPr/>
        </p:nvSpPr>
        <p:spPr>
          <a:xfrm>
            <a:off x="461749" y="2043806"/>
            <a:ext cx="4997355" cy="3539430"/>
          </a:xfrm>
          <a:prstGeom prst="rect">
            <a:avLst/>
          </a:prstGeom>
          <a:noFill/>
        </p:spPr>
        <p:txBody>
          <a:bodyPr wrap="square" rtlCol="0">
            <a:spAutoFit/>
          </a:bodyPr>
          <a:lstStyle/>
          <a:p>
            <a:r>
              <a:rPr lang="en-IN" sz="1600" b="1" dirty="0"/>
              <a:t>🔑 Piecewise-Linear RUL Formula</a:t>
            </a:r>
            <a:endParaRPr lang="en-IN" sz="1600" dirty="0"/>
          </a:p>
          <a:p>
            <a:r>
              <a:rPr lang="en-IN" sz="1600" dirty="0"/>
              <a:t>RUL label = min(actual remaining cycles, RUL_MAX)  If a pump has 350 cycles left → label = RUL_MAX (e.g. 120) If a pump has 80 cycles left → label = 80 If a pump has 20 cycles left → label = 20  Everything before the degradation window is just labelled RUL_MAX — we say 'we don't know exactly how many cycles remain, but it's beyond our predictable window.’</a:t>
            </a:r>
          </a:p>
          <a:p>
            <a:endParaRPr lang="en-IN" sz="1600" dirty="0"/>
          </a:p>
          <a:p>
            <a:r>
              <a:rPr lang="en-US" sz="1600" dirty="0"/>
              <a:t>Signal-to-Noise Ratio in ML: The ratio of meaningful pattern to random variation in training data. High noise = the model learns garbage. Piecewise-linear RUL reduces noise by removing the uninformative early-life data from the regression target.</a:t>
            </a:r>
            <a:endParaRPr lang="en-IN" sz="1600" dirty="0"/>
          </a:p>
        </p:txBody>
      </p:sp>
    </p:spTree>
    <p:extLst>
      <p:ext uri="{BB962C8B-B14F-4D97-AF65-F5344CB8AC3E}">
        <p14:creationId xmlns:p14="http://schemas.microsoft.com/office/powerpoint/2010/main" val="3691500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714408-C890-7AB9-9EF5-26D6299D3F31}"/>
              </a:ext>
            </a:extLst>
          </p:cNvPr>
          <p:cNvSpPr txBox="1"/>
          <p:nvPr/>
        </p:nvSpPr>
        <p:spPr>
          <a:xfrm>
            <a:off x="605620" y="473838"/>
            <a:ext cx="6097136" cy="440826"/>
          </a:xfrm>
          <a:prstGeom prst="rect">
            <a:avLst/>
          </a:prstGeom>
        </p:spPr>
        <p:txBody>
          <a:bodyPr vert="horz" lIns="91440" tIns="45720" rIns="91440" bIns="45720" rtlCol="0" anchor="b">
            <a:normAutofit/>
          </a:bodyPr>
          <a:lstStyle>
            <a:defPPr>
              <a:defRPr lang="en-US"/>
            </a:defPPr>
            <a:lvl1pPr>
              <a:lnSpc>
                <a:spcPct val="90000"/>
              </a:lnSpc>
              <a:spcBef>
                <a:spcPct val="0"/>
              </a:spcBef>
              <a:spcAft>
                <a:spcPts val="750"/>
              </a:spcAft>
              <a:defRPr sz="2500" b="1">
                <a:effectLst/>
                <a:latin typeface="+mj-lt"/>
                <a:ea typeface="+mj-ea"/>
                <a:cs typeface="+mj-cs"/>
              </a:defRPr>
            </a:lvl1pPr>
          </a:lstStyle>
          <a:p>
            <a:r>
              <a:rPr lang="en-IN"/>
              <a:t>Data Understanding &amp; EDA Findings </a:t>
            </a:r>
            <a:endParaRPr lang="en-IN" dirty="0"/>
          </a:p>
        </p:txBody>
      </p:sp>
      <p:graphicFrame>
        <p:nvGraphicFramePr>
          <p:cNvPr id="6" name="Table 5">
            <a:extLst>
              <a:ext uri="{FF2B5EF4-FFF2-40B4-BE49-F238E27FC236}">
                <a16:creationId xmlns:a16="http://schemas.microsoft.com/office/drawing/2014/main" id="{22C8B67B-AB7A-DF81-6E21-8CABD8AB278F}"/>
              </a:ext>
            </a:extLst>
          </p:cNvPr>
          <p:cNvGraphicFramePr>
            <a:graphicFrameLocks noGrp="1"/>
          </p:cNvGraphicFramePr>
          <p:nvPr>
            <p:extLst>
              <p:ext uri="{D42A27DB-BD31-4B8C-83A1-F6EECF244321}">
                <p14:modId xmlns:p14="http://schemas.microsoft.com/office/powerpoint/2010/main" val="90694355"/>
              </p:ext>
            </p:extLst>
          </p:nvPr>
        </p:nvGraphicFramePr>
        <p:xfrm>
          <a:off x="741815" y="1884680"/>
          <a:ext cx="9357528" cy="3088640"/>
        </p:xfrm>
        <a:graphic>
          <a:graphicData uri="http://schemas.openxmlformats.org/drawingml/2006/table">
            <a:tbl>
              <a:tblPr firstRow="1" firstCol="1" bandRow="1">
                <a:tableStyleId>{5C22544A-7EE6-4342-B048-85BDC9FD1C3A}</a:tableStyleId>
              </a:tblPr>
              <a:tblGrid>
                <a:gridCol w="1999472">
                  <a:extLst>
                    <a:ext uri="{9D8B030D-6E8A-4147-A177-3AD203B41FA5}">
                      <a16:colId xmlns:a16="http://schemas.microsoft.com/office/drawing/2014/main" val="2502236711"/>
                    </a:ext>
                  </a:extLst>
                </a:gridCol>
                <a:gridCol w="3905173">
                  <a:extLst>
                    <a:ext uri="{9D8B030D-6E8A-4147-A177-3AD203B41FA5}">
                      <a16:colId xmlns:a16="http://schemas.microsoft.com/office/drawing/2014/main" val="2168285900"/>
                    </a:ext>
                  </a:extLst>
                </a:gridCol>
                <a:gridCol w="3452883">
                  <a:extLst>
                    <a:ext uri="{9D8B030D-6E8A-4147-A177-3AD203B41FA5}">
                      <a16:colId xmlns:a16="http://schemas.microsoft.com/office/drawing/2014/main" val="2687844897"/>
                    </a:ext>
                  </a:extLst>
                </a:gridCol>
              </a:tblGrid>
              <a:tr h="0">
                <a:tc>
                  <a:txBody>
                    <a:bodyPr/>
                    <a:lstStyle/>
                    <a:p>
                      <a:pPr>
                        <a:buNone/>
                      </a:pPr>
                      <a:r>
                        <a:rPr lang="en-IN" sz="1600">
                          <a:effectLst/>
                        </a:rPr>
                        <a:t>File Name</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What It Contains</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Key Numbers</a:t>
                      </a:r>
                      <a:endParaRPr lang="en-IN" sz="20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004497097"/>
                  </a:ext>
                </a:extLst>
              </a:tr>
              <a:tr h="0">
                <a:tc>
                  <a:txBody>
                    <a:bodyPr/>
                    <a:lstStyle/>
                    <a:p>
                      <a:pPr>
                        <a:buNone/>
                      </a:pPr>
                      <a:r>
                        <a:rPr lang="en-IN" sz="1600">
                          <a:effectLst/>
                        </a:rPr>
                        <a:t>train.csv</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dirty="0">
                          <a:effectLst/>
                        </a:rPr>
                        <a:t>The main training data. One row per pump per operating cycle. Contains all sensor readings.</a:t>
                      </a:r>
                      <a:endParaRPr lang="en-IN" sz="2000" dirty="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~16,600 rows across 80 pumps. 20 sensor columns. Readings taken every hour (hourly sampling).</a:t>
                      </a:r>
                      <a:endParaRPr lang="en-IN" sz="20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4054104654"/>
                  </a:ext>
                </a:extLst>
              </a:tr>
              <a:tr h="0">
                <a:tc>
                  <a:txBody>
                    <a:bodyPr/>
                    <a:lstStyle/>
                    <a:p>
                      <a:pPr>
                        <a:buNone/>
                      </a:pPr>
                      <a:r>
                        <a:rPr lang="en-IN" sz="1600">
                          <a:effectLst/>
                        </a:rPr>
                        <a:t>train_units.csv</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One summary row per pump. Records whether the pump eventually failed.</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72 pumps reached failure (event=1). 8 pumps were still healthy when monitoring stopped (event=0, these are censored).</a:t>
                      </a:r>
                      <a:endParaRPr lang="en-IN" sz="20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2151779348"/>
                  </a:ext>
                </a:extLst>
              </a:tr>
              <a:tr h="0">
                <a:tc>
                  <a:txBody>
                    <a:bodyPr/>
                    <a:lstStyle/>
                    <a:p>
                      <a:pPr>
                        <a:buNone/>
                      </a:pPr>
                      <a:r>
                        <a:rPr lang="en-IN" sz="1600">
                          <a:effectLst/>
                        </a:rPr>
                        <a:t>sample_test_input.csv</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a:effectLst/>
                        </a:rPr>
                        <a:t>Example of what new pump data looks like at inference time (when we use the trained model on a real pump).</a:t>
                      </a:r>
                      <a:endParaRPr lang="en-IN" sz="2000">
                        <a:effectLst/>
                        <a:latin typeface="Arial" panose="020B0604020202020204" pitchFamily="34" charset="0"/>
                        <a:ea typeface="Arial" panose="020B0604020202020204" pitchFamily="34" charset="0"/>
                      </a:endParaRPr>
                    </a:p>
                  </a:txBody>
                  <a:tcPr marL="76200" marR="76200" marT="50800" marB="50800"/>
                </a:tc>
                <a:tc>
                  <a:txBody>
                    <a:bodyPr/>
                    <a:lstStyle/>
                    <a:p>
                      <a:pPr>
                        <a:buNone/>
                      </a:pPr>
                      <a:r>
                        <a:rPr lang="en-IN" sz="1600" dirty="0">
                          <a:effectLst/>
                        </a:rPr>
                        <a:t>Same sensor columns, 2 pumps shown, no failure label — because failure hasn't happened yet.</a:t>
                      </a:r>
                      <a:endParaRPr lang="en-IN" sz="20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866684590"/>
                  </a:ext>
                </a:extLst>
              </a:tr>
            </a:tbl>
          </a:graphicData>
        </a:graphic>
      </p:graphicFrame>
      <p:sp>
        <p:nvSpPr>
          <p:cNvPr id="8" name="TextBox 7">
            <a:extLst>
              <a:ext uri="{FF2B5EF4-FFF2-40B4-BE49-F238E27FC236}">
                <a16:creationId xmlns:a16="http://schemas.microsoft.com/office/drawing/2014/main" id="{CE74704B-F7BF-3E18-EB4E-AE2A6893315F}"/>
              </a:ext>
            </a:extLst>
          </p:cNvPr>
          <p:cNvSpPr txBox="1"/>
          <p:nvPr/>
        </p:nvSpPr>
        <p:spPr>
          <a:xfrm>
            <a:off x="658980" y="1249640"/>
            <a:ext cx="6094674" cy="369332"/>
          </a:xfrm>
          <a:prstGeom prst="rect">
            <a:avLst/>
          </a:prstGeom>
          <a:noFill/>
        </p:spPr>
        <p:txBody>
          <a:bodyPr wrap="square">
            <a:spAutoFit/>
          </a:bodyPr>
          <a:lstStyle/>
          <a:p>
            <a:pPr>
              <a:spcBef>
                <a:spcPts val="1500"/>
              </a:spcBef>
              <a:spcAft>
                <a:spcPts val="750"/>
              </a:spcAft>
              <a:buNone/>
            </a:pPr>
            <a:r>
              <a:rPr lang="en-IN" sz="1800" b="1" dirty="0">
                <a:solidFill>
                  <a:srgbClr val="2E75B6"/>
                </a:solidFill>
                <a:effectLst/>
                <a:latin typeface="Arial" panose="020B0604020202020204" pitchFamily="34" charset="0"/>
              </a:rPr>
              <a:t>The Dataset at a Glance</a:t>
            </a:r>
          </a:p>
        </p:txBody>
      </p:sp>
    </p:spTree>
    <p:extLst>
      <p:ext uri="{BB962C8B-B14F-4D97-AF65-F5344CB8AC3E}">
        <p14:creationId xmlns:p14="http://schemas.microsoft.com/office/powerpoint/2010/main" val="2096457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B8035AC-9367-E9DC-A586-C96571AA9C94}"/>
              </a:ext>
            </a:extLst>
          </p:cNvPr>
          <p:cNvSpPr txBox="1"/>
          <p:nvPr/>
        </p:nvSpPr>
        <p:spPr>
          <a:xfrm>
            <a:off x="605620" y="473838"/>
            <a:ext cx="6097136" cy="440826"/>
          </a:xfrm>
          <a:prstGeom prst="rect">
            <a:avLst/>
          </a:prstGeom>
        </p:spPr>
        <p:txBody>
          <a:bodyPr vert="horz" lIns="91440" tIns="45720" rIns="91440" bIns="45720" rtlCol="0" anchor="b">
            <a:normAutofit/>
          </a:bodyPr>
          <a:lstStyle>
            <a:defPPr>
              <a:defRPr lang="en-US"/>
            </a:defPPr>
            <a:lvl1pPr>
              <a:lnSpc>
                <a:spcPct val="90000"/>
              </a:lnSpc>
              <a:spcBef>
                <a:spcPct val="0"/>
              </a:spcBef>
              <a:spcAft>
                <a:spcPts val="750"/>
              </a:spcAft>
              <a:defRPr sz="2500" b="1">
                <a:effectLst/>
                <a:latin typeface="+mj-lt"/>
                <a:ea typeface="+mj-ea"/>
                <a:cs typeface="+mj-cs"/>
              </a:defRPr>
            </a:lvl1pPr>
          </a:lstStyle>
          <a:p>
            <a:r>
              <a:rPr lang="en-IN" dirty="0"/>
              <a:t>Data Understanding &amp; EDA Findings </a:t>
            </a:r>
          </a:p>
        </p:txBody>
      </p:sp>
      <p:sp>
        <p:nvSpPr>
          <p:cNvPr id="9" name="TextBox 8">
            <a:extLst>
              <a:ext uri="{FF2B5EF4-FFF2-40B4-BE49-F238E27FC236}">
                <a16:creationId xmlns:a16="http://schemas.microsoft.com/office/drawing/2014/main" id="{577E0A3D-E68C-34A8-5CC3-BC8FF29E0E2D}"/>
              </a:ext>
            </a:extLst>
          </p:cNvPr>
          <p:cNvSpPr txBox="1"/>
          <p:nvPr/>
        </p:nvSpPr>
        <p:spPr>
          <a:xfrm>
            <a:off x="532831" y="1136064"/>
            <a:ext cx="5563169" cy="4585871"/>
          </a:xfrm>
          <a:prstGeom prst="rect">
            <a:avLst/>
          </a:prstGeom>
          <a:noFill/>
        </p:spPr>
        <p:txBody>
          <a:bodyPr wrap="square">
            <a:spAutoFit/>
          </a:bodyPr>
          <a:lstStyle/>
          <a:p>
            <a:pPr>
              <a:buNone/>
            </a:pPr>
            <a:r>
              <a:rPr lang="en-IN" sz="1600" b="1" dirty="0"/>
              <a:t>EDA — 5 Steps to Understand the Data Before Building the Model</a:t>
            </a:r>
            <a:endParaRPr lang="en-IN" sz="1600" dirty="0"/>
          </a:p>
          <a:p>
            <a:pPr>
              <a:buNone/>
            </a:pPr>
            <a:r>
              <a:rPr lang="en-IN" sz="1600" i="1" dirty="0"/>
              <a:t>EDA (Exploratory Data Analysis) = "Get to know your data thoroughly before trusting it to a machine"</a:t>
            </a:r>
            <a:endParaRPr lang="en-IN" sz="1600" dirty="0"/>
          </a:p>
          <a:p>
            <a:pPr>
              <a:buNone/>
            </a:pPr>
            <a:br>
              <a:rPr lang="en-IN" sz="1600" dirty="0"/>
            </a:br>
            <a:endParaRPr lang="en-IN" sz="1600" dirty="0"/>
          </a:p>
          <a:p>
            <a:pPr>
              <a:buNone/>
            </a:pPr>
            <a:r>
              <a:rPr lang="en-IN" sz="1600" b="1" dirty="0"/>
              <a:t>Phase 1 — Is the data clean?</a:t>
            </a:r>
            <a:r>
              <a:rPr lang="en-IN" sz="1600" dirty="0"/>
              <a:t> 🧹</a:t>
            </a:r>
          </a:p>
          <a:p>
            <a:pPr>
              <a:buFont typeface="Arial" panose="020B0604020202020204" pitchFamily="34" charset="0"/>
              <a:buChar char="•"/>
            </a:pPr>
            <a:r>
              <a:rPr lang="en-IN" sz="1600" dirty="0"/>
              <a:t>Are all columns present and in the right format?</a:t>
            </a:r>
          </a:p>
          <a:p>
            <a:pPr>
              <a:buFont typeface="Arial" panose="020B0604020202020204" pitchFamily="34" charset="0"/>
              <a:buChar char="•"/>
            </a:pPr>
            <a:r>
              <a:rPr lang="en-IN" sz="1600" dirty="0"/>
              <a:t>Any fake "missing value" codes like −999 hiding in the data?</a:t>
            </a:r>
          </a:p>
          <a:p>
            <a:pPr>
              <a:buFont typeface="Arial" panose="020B0604020202020204" pitchFamily="34" charset="0"/>
              <a:buChar char="•"/>
            </a:pPr>
            <a:r>
              <a:rPr lang="en-IN" sz="1600" dirty="0"/>
              <a:t>Do cycle numbers run 1, 2, 3… without any gaps?</a:t>
            </a:r>
          </a:p>
          <a:p>
            <a:pPr>
              <a:buFont typeface="Arial" panose="020B0604020202020204" pitchFamily="34" charset="0"/>
              <a:buChar char="•"/>
            </a:pPr>
            <a:r>
              <a:rPr lang="en-IN" sz="1600" dirty="0"/>
              <a:t>Any duplicate rows from a data pipeline glitch?</a:t>
            </a:r>
          </a:p>
          <a:p>
            <a:pPr>
              <a:buNone/>
            </a:pPr>
            <a:r>
              <a:rPr lang="en-IN" sz="1600" b="1" dirty="0"/>
              <a:t>Phase 2 — Which sensors actually matter?</a:t>
            </a:r>
            <a:r>
              <a:rPr lang="en-IN" sz="1600" dirty="0"/>
              <a:t> 📡</a:t>
            </a:r>
          </a:p>
          <a:p>
            <a:pPr>
              <a:buFont typeface="Arial" panose="020B0604020202020204" pitchFamily="34" charset="0"/>
              <a:buChar char="•"/>
            </a:pPr>
            <a:r>
              <a:rPr lang="en-IN" sz="1600" dirty="0"/>
              <a:t>20 sensors — but some are dead, some are pure noise, some are useful</a:t>
            </a:r>
          </a:p>
          <a:p>
            <a:pPr>
              <a:buFont typeface="Arial" panose="020B0604020202020204" pitchFamily="34" charset="0"/>
              <a:buChar char="•"/>
            </a:pPr>
            <a:r>
              <a:rPr lang="en-IN" sz="1600" dirty="0"/>
              <a:t>Rank each sensor by how consistently it changes as the pump approaches failure</a:t>
            </a:r>
          </a:p>
          <a:p>
            <a:pPr>
              <a:buFont typeface="Arial" panose="020B0604020202020204" pitchFamily="34" charset="0"/>
              <a:buChar char="•"/>
            </a:pPr>
            <a:r>
              <a:rPr lang="en-IN" sz="1600" dirty="0"/>
              <a:t>Tool used: </a:t>
            </a:r>
            <a:r>
              <a:rPr lang="en-IN" sz="1600" b="1" dirty="0"/>
              <a:t>Spearman Correlation</a:t>
            </a:r>
            <a:r>
              <a:rPr lang="en-IN" sz="1600" dirty="0"/>
              <a:t> — </a:t>
            </a:r>
            <a:r>
              <a:rPr lang="en-IN" sz="1600" i="1" dirty="0"/>
              <a:t>"does this sensor reliably move as the pump degrades?"</a:t>
            </a:r>
            <a:endParaRPr lang="en-IN" sz="1600" dirty="0"/>
          </a:p>
        </p:txBody>
      </p:sp>
      <p:sp>
        <p:nvSpPr>
          <p:cNvPr id="11" name="TextBox 10">
            <a:extLst>
              <a:ext uri="{FF2B5EF4-FFF2-40B4-BE49-F238E27FC236}">
                <a16:creationId xmlns:a16="http://schemas.microsoft.com/office/drawing/2014/main" id="{8785061B-74C6-B136-41A3-9B90754734DD}"/>
              </a:ext>
            </a:extLst>
          </p:cNvPr>
          <p:cNvSpPr txBox="1"/>
          <p:nvPr/>
        </p:nvSpPr>
        <p:spPr>
          <a:xfrm>
            <a:off x="6475862" y="1117561"/>
            <a:ext cx="5351628" cy="5016758"/>
          </a:xfrm>
          <a:prstGeom prst="rect">
            <a:avLst/>
          </a:prstGeom>
          <a:noFill/>
        </p:spPr>
        <p:txBody>
          <a:bodyPr wrap="square">
            <a:spAutoFit/>
          </a:bodyPr>
          <a:lstStyle/>
          <a:p>
            <a:pPr>
              <a:buNone/>
            </a:pPr>
            <a:r>
              <a:rPr lang="en-IN" sz="1600" b="1" dirty="0"/>
              <a:t>Phase 3 — What does failure look like across the fleet?</a:t>
            </a:r>
            <a:r>
              <a:rPr lang="en-IN" sz="1600" dirty="0"/>
              <a:t> 📉</a:t>
            </a:r>
          </a:p>
          <a:p>
            <a:pPr>
              <a:buFont typeface="Arial" panose="020B0604020202020204" pitchFamily="34" charset="0"/>
              <a:buChar char="•"/>
            </a:pPr>
            <a:r>
              <a:rPr lang="en-IN" sz="1600" dirty="0"/>
              <a:t>Align all 72 failed pumps to their failure point and overlay them</a:t>
            </a:r>
          </a:p>
          <a:p>
            <a:pPr>
              <a:buFont typeface="Arial" panose="020B0604020202020204" pitchFamily="34" charset="0"/>
              <a:buChar char="•"/>
            </a:pPr>
            <a:r>
              <a:rPr lang="en-IN" sz="1600" dirty="0"/>
              <a:t>Reveals: </a:t>
            </a:r>
            <a:r>
              <a:rPr lang="en-IN" sz="1600" i="1" dirty="0"/>
              <a:t>"on average, sensors start behaving differently ~120 cycles before failure"</a:t>
            </a:r>
            <a:endParaRPr lang="en-IN" sz="1600" dirty="0"/>
          </a:p>
          <a:p>
            <a:pPr>
              <a:buFont typeface="Arial" panose="020B0604020202020204" pitchFamily="34" charset="0"/>
              <a:buChar char="•"/>
            </a:pPr>
            <a:r>
              <a:rPr lang="en-IN" sz="1600" dirty="0"/>
              <a:t>This is how we chose the </a:t>
            </a:r>
            <a:r>
              <a:rPr lang="en-IN" sz="1600" b="1" dirty="0"/>
              <a:t>RUL_MAX cap</a:t>
            </a:r>
            <a:endParaRPr lang="en-IN" sz="1600" dirty="0"/>
          </a:p>
          <a:p>
            <a:pPr>
              <a:buNone/>
            </a:pPr>
            <a:r>
              <a:rPr lang="en-IN" sz="1600" b="1" dirty="0"/>
              <a:t>Phase 4 — Can we safely ignore the 8 pumps that never failed?</a:t>
            </a:r>
            <a:r>
              <a:rPr lang="en-IN" sz="1600" dirty="0"/>
              <a:t> ❓</a:t>
            </a:r>
          </a:p>
          <a:p>
            <a:pPr>
              <a:buFont typeface="Arial" panose="020B0604020202020204" pitchFamily="34" charset="0"/>
              <a:buChar char="•"/>
            </a:pPr>
            <a:r>
              <a:rPr lang="en-IN" sz="1600" dirty="0"/>
              <a:t>Test: do their sensor readings look statistically identical to the failed pumps at the same life stage?</a:t>
            </a:r>
          </a:p>
          <a:p>
            <a:pPr>
              <a:buFont typeface="Arial" panose="020B0604020202020204" pitchFamily="34" charset="0"/>
              <a:buChar char="•"/>
            </a:pPr>
            <a:r>
              <a:rPr lang="en-IN" sz="1600" dirty="0"/>
              <a:t>Tool: </a:t>
            </a:r>
            <a:r>
              <a:rPr lang="en-IN" sz="1600" b="1" dirty="0"/>
              <a:t>Mann-Whitney U Test</a:t>
            </a:r>
            <a:r>
              <a:rPr lang="en-IN" sz="1600" dirty="0"/>
              <a:t> — if p &gt; 0.05, yes → safe to exclude them from training</a:t>
            </a:r>
          </a:p>
          <a:p>
            <a:pPr>
              <a:buNone/>
            </a:pPr>
            <a:r>
              <a:rPr lang="en-IN" sz="1600" b="1" dirty="0"/>
              <a:t>Phase 5 — Is the pump running hard or easy?</a:t>
            </a:r>
            <a:r>
              <a:rPr lang="en-IN" sz="1600" dirty="0"/>
              <a:t> ⚙️</a:t>
            </a:r>
          </a:p>
          <a:p>
            <a:pPr>
              <a:buFont typeface="Arial" panose="020B0604020202020204" pitchFamily="34" charset="0"/>
              <a:buChar char="•"/>
            </a:pPr>
            <a:r>
              <a:rPr lang="en-IN" sz="1600" dirty="0"/>
              <a:t>Same pump, different speeds = different sensor readings — </a:t>
            </a:r>
            <a:r>
              <a:rPr lang="en-IN" sz="1600" i="1" dirty="0"/>
              <a:t>not</a:t>
            </a:r>
            <a:r>
              <a:rPr lang="en-IN" sz="1600" dirty="0"/>
              <a:t> degradation</a:t>
            </a:r>
          </a:p>
          <a:p>
            <a:pPr>
              <a:buFont typeface="Arial" panose="020B0604020202020204" pitchFamily="34" charset="0"/>
              <a:buChar char="•"/>
            </a:pPr>
            <a:r>
              <a:rPr lang="en-IN" sz="1600" dirty="0"/>
              <a:t>Cluster the data into operating modes (low speed / high speed)</a:t>
            </a:r>
          </a:p>
          <a:p>
            <a:pPr>
              <a:buFont typeface="Arial" panose="020B0604020202020204" pitchFamily="34" charset="0"/>
              <a:buChar char="•"/>
            </a:pPr>
            <a:r>
              <a:rPr lang="en-IN" sz="1600" dirty="0"/>
              <a:t>Normalise within each mode so the model compares apples to apples</a:t>
            </a:r>
          </a:p>
        </p:txBody>
      </p:sp>
    </p:spTree>
    <p:extLst>
      <p:ext uri="{BB962C8B-B14F-4D97-AF65-F5344CB8AC3E}">
        <p14:creationId xmlns:p14="http://schemas.microsoft.com/office/powerpoint/2010/main" val="3989969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418DC4-3E11-178F-B5E0-1E55E0352ED0}"/>
              </a:ext>
            </a:extLst>
          </p:cNvPr>
          <p:cNvSpPr txBox="1"/>
          <p:nvPr/>
        </p:nvSpPr>
        <p:spPr>
          <a:xfrm>
            <a:off x="339487" y="289593"/>
            <a:ext cx="7003007" cy="400110"/>
          </a:xfrm>
          <a:prstGeom prst="rect">
            <a:avLst/>
          </a:prstGeom>
          <a:noFill/>
        </p:spPr>
        <p:txBody>
          <a:bodyPr wrap="square">
            <a:spAutoFit/>
          </a:bodyPr>
          <a:lstStyle/>
          <a:p>
            <a:pPr>
              <a:spcBef>
                <a:spcPts val="1500"/>
              </a:spcBef>
              <a:spcAft>
                <a:spcPts val="750"/>
              </a:spcAft>
              <a:buNone/>
            </a:pPr>
            <a:r>
              <a:rPr lang="en-IN" sz="2000" b="1" dirty="0">
                <a:solidFill>
                  <a:srgbClr val="2E75B6"/>
                </a:solidFill>
                <a:effectLst/>
                <a:latin typeface="Arial" panose="020B0604020202020204" pitchFamily="34" charset="0"/>
              </a:rPr>
              <a:t>The Key EDA Finding: Automatic RUL_MAX Selection</a:t>
            </a:r>
          </a:p>
        </p:txBody>
      </p:sp>
      <p:pic>
        <p:nvPicPr>
          <p:cNvPr id="7" name="Picture 6">
            <a:extLst>
              <a:ext uri="{FF2B5EF4-FFF2-40B4-BE49-F238E27FC236}">
                <a16:creationId xmlns:a16="http://schemas.microsoft.com/office/drawing/2014/main" id="{6668C28D-D9BC-6681-9254-D04B506E43D2}"/>
              </a:ext>
            </a:extLst>
          </p:cNvPr>
          <p:cNvPicPr>
            <a:picLocks noChangeAspect="1"/>
          </p:cNvPicPr>
          <p:nvPr/>
        </p:nvPicPr>
        <p:blipFill>
          <a:blip r:embed="rId2"/>
          <a:stretch>
            <a:fillRect/>
          </a:stretch>
        </p:blipFill>
        <p:spPr>
          <a:xfrm>
            <a:off x="535675" y="1096370"/>
            <a:ext cx="9081156" cy="4463619"/>
          </a:xfrm>
          <a:prstGeom prst="rect">
            <a:avLst/>
          </a:prstGeom>
        </p:spPr>
      </p:pic>
      <p:sp>
        <p:nvSpPr>
          <p:cNvPr id="9" name="TextBox 8">
            <a:extLst>
              <a:ext uri="{FF2B5EF4-FFF2-40B4-BE49-F238E27FC236}">
                <a16:creationId xmlns:a16="http://schemas.microsoft.com/office/drawing/2014/main" id="{6E077851-E281-9226-9765-AB6BAFF58EEE}"/>
              </a:ext>
            </a:extLst>
          </p:cNvPr>
          <p:cNvSpPr txBox="1"/>
          <p:nvPr/>
        </p:nvSpPr>
        <p:spPr>
          <a:xfrm>
            <a:off x="9662615" y="1298011"/>
            <a:ext cx="2315000" cy="2585323"/>
          </a:xfrm>
          <a:prstGeom prst="rect">
            <a:avLst/>
          </a:prstGeom>
          <a:noFill/>
        </p:spPr>
        <p:txBody>
          <a:bodyPr wrap="square">
            <a:spAutoFit/>
          </a:bodyPr>
          <a:lstStyle/>
          <a:p>
            <a:r>
              <a:rPr lang="en-US" dirty="0"/>
              <a:t>Selected RUL_MAX = 185 </a:t>
            </a:r>
            <a:r>
              <a:rPr lang="en-US" dirty="0" err="1"/>
              <a:t>cyclesInterpretation</a:t>
            </a:r>
            <a:r>
              <a:rPr lang="en-US" dirty="0"/>
              <a:t>: sensor signals start diverging from healthy </a:t>
            </a:r>
            <a:r>
              <a:rPr lang="en-US" dirty="0" err="1"/>
              <a:t>baselinewithin</a:t>
            </a:r>
            <a:r>
              <a:rPr lang="en-US" dirty="0"/>
              <a:t> the last 185 cycles before failure.</a:t>
            </a:r>
            <a:endParaRPr lang="en-IN" dirty="0"/>
          </a:p>
        </p:txBody>
      </p:sp>
    </p:spTree>
    <p:extLst>
      <p:ext uri="{BB962C8B-B14F-4D97-AF65-F5344CB8AC3E}">
        <p14:creationId xmlns:p14="http://schemas.microsoft.com/office/powerpoint/2010/main" val="339462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C54F16C-4306-4B71-DEE4-D5E6D2CD6064}"/>
              </a:ext>
            </a:extLst>
          </p:cNvPr>
          <p:cNvSpPr txBox="1"/>
          <p:nvPr/>
        </p:nvSpPr>
        <p:spPr>
          <a:xfrm>
            <a:off x="646563" y="337360"/>
            <a:ext cx="6097136" cy="369332"/>
          </a:xfrm>
          <a:prstGeom prst="rect">
            <a:avLst/>
          </a:prstGeom>
          <a:noFill/>
        </p:spPr>
        <p:txBody>
          <a:bodyPr wrap="square">
            <a:spAutoFit/>
          </a:bodyPr>
          <a:lstStyle>
            <a:defPPr>
              <a:defRPr lang="en-US"/>
            </a:defPPr>
            <a:lvl1pPr>
              <a:spcBef>
                <a:spcPts val="1500"/>
              </a:spcBef>
              <a:spcAft>
                <a:spcPts val="750"/>
              </a:spcAft>
              <a:buNone/>
              <a:defRPr sz="2000" b="1">
                <a:solidFill>
                  <a:srgbClr val="2E75B6"/>
                </a:solidFill>
                <a:effectLst/>
                <a:latin typeface="Arial" panose="020B0604020202020204" pitchFamily="34" charset="0"/>
              </a:defRPr>
            </a:lvl1pPr>
          </a:lstStyle>
          <a:p>
            <a:r>
              <a:rPr lang="en-IN" dirty="0"/>
              <a:t>Label Engineering — Handling Censoring </a:t>
            </a:r>
          </a:p>
        </p:txBody>
      </p:sp>
      <p:sp>
        <p:nvSpPr>
          <p:cNvPr id="9" name="TextBox 8">
            <a:extLst>
              <a:ext uri="{FF2B5EF4-FFF2-40B4-BE49-F238E27FC236}">
                <a16:creationId xmlns:a16="http://schemas.microsoft.com/office/drawing/2014/main" id="{84979157-476E-A23C-FF4D-6333212A64D6}"/>
              </a:ext>
            </a:extLst>
          </p:cNvPr>
          <p:cNvSpPr txBox="1"/>
          <p:nvPr/>
        </p:nvSpPr>
        <p:spPr>
          <a:xfrm>
            <a:off x="646562" y="1019244"/>
            <a:ext cx="11035921" cy="3693319"/>
          </a:xfrm>
          <a:prstGeom prst="rect">
            <a:avLst/>
          </a:prstGeom>
          <a:noFill/>
        </p:spPr>
        <p:txBody>
          <a:bodyPr wrap="square">
            <a:spAutoFit/>
          </a:bodyPr>
          <a:lstStyle/>
          <a:p>
            <a:pPr>
              <a:buNone/>
            </a:pPr>
            <a:r>
              <a:rPr lang="en-IN" sz="1800" b="1" dirty="0">
                <a:solidFill>
                  <a:srgbClr val="1F4E79"/>
                </a:solidFill>
                <a:effectLst/>
                <a:latin typeface="Arial" panose="020B0604020202020204" pitchFamily="34" charset="0"/>
                <a:ea typeface="Arial" panose="020B0604020202020204" pitchFamily="34" charset="0"/>
              </a:rPr>
              <a:t>Label Calculation Examples</a:t>
            </a:r>
            <a:endParaRPr lang="en-IN" sz="2400" dirty="0">
              <a:effectLst/>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RUL label = min(</a:t>
            </a:r>
            <a:r>
              <a:rPr lang="en-IN" sz="1800" dirty="0" err="1">
                <a:solidFill>
                  <a:srgbClr val="1A1A2E"/>
                </a:solidFill>
                <a:effectLst/>
                <a:latin typeface="Arial" panose="020B0604020202020204" pitchFamily="34" charset="0"/>
                <a:ea typeface="Arial" panose="020B0604020202020204" pitchFamily="34" charset="0"/>
              </a:rPr>
              <a:t>max_cycle</a:t>
            </a:r>
            <a:r>
              <a:rPr lang="en-IN" sz="1800" dirty="0">
                <a:solidFill>
                  <a:srgbClr val="1A1A2E"/>
                </a:solidFill>
                <a:effectLst/>
                <a:latin typeface="Arial" panose="020B0604020202020204" pitchFamily="34" charset="0"/>
                <a:ea typeface="Arial" panose="020B0604020202020204" pitchFamily="34" charset="0"/>
              </a:rPr>
              <a:t> − </a:t>
            </a:r>
            <a:r>
              <a:rPr lang="en-IN" sz="1800" dirty="0" err="1">
                <a:solidFill>
                  <a:srgbClr val="1A1A2E"/>
                </a:solidFill>
                <a:effectLst/>
                <a:latin typeface="Arial" panose="020B0604020202020204" pitchFamily="34" charset="0"/>
                <a:ea typeface="Arial" panose="020B0604020202020204" pitchFamily="34" charset="0"/>
              </a:rPr>
              <a:t>current_cycle</a:t>
            </a:r>
            <a:r>
              <a:rPr lang="en-IN" sz="1800" dirty="0">
                <a:solidFill>
                  <a:srgbClr val="1A1A2E"/>
                </a:solidFill>
                <a:effectLst/>
                <a:latin typeface="Arial" panose="020B0604020202020204" pitchFamily="34" charset="0"/>
                <a:ea typeface="Arial" panose="020B0604020202020204" pitchFamily="34" charset="0"/>
              </a:rPr>
              <a:t>, RUL_MAX)  </a:t>
            </a:r>
          </a:p>
          <a:p>
            <a:pPr>
              <a:buNone/>
            </a:pPr>
            <a:r>
              <a:rPr lang="en-IN" sz="1800" dirty="0">
                <a:solidFill>
                  <a:srgbClr val="1A1A2E"/>
                </a:solidFill>
                <a:effectLst/>
                <a:latin typeface="Arial" panose="020B0604020202020204" pitchFamily="34" charset="0"/>
                <a:ea typeface="Arial" panose="020B0604020202020204" pitchFamily="34" charset="0"/>
              </a:rPr>
              <a:t>Example: </a:t>
            </a:r>
          </a:p>
          <a:p>
            <a:pPr>
              <a:buNone/>
            </a:pPr>
            <a:endParaRPr lang="en-IN" sz="1800" dirty="0">
              <a:solidFill>
                <a:srgbClr val="1A1A2E"/>
              </a:solidFill>
              <a:effectLst/>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Pump lives 280 cycles total. RUL_MAX = 120. </a:t>
            </a:r>
          </a:p>
          <a:p>
            <a:pPr>
              <a:buNone/>
            </a:pPr>
            <a:endParaRPr lang="en-IN" dirty="0">
              <a:solidFill>
                <a:srgbClr val="1A1A2E"/>
              </a:solidFill>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At cycle 100: RUL = min(280-100, 120) = min(180, 120) = 120 </a:t>
            </a:r>
          </a:p>
          <a:p>
            <a:pPr>
              <a:buNone/>
            </a:pPr>
            <a:endParaRPr lang="en-IN" sz="1800" dirty="0">
              <a:solidFill>
                <a:srgbClr val="1A1A2E"/>
              </a:solidFill>
              <a:effectLst/>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At cycle 200: RUL = min(280-200, 120) = min(80, 120) = 80 </a:t>
            </a:r>
          </a:p>
          <a:p>
            <a:pPr>
              <a:buNone/>
            </a:pPr>
            <a:endParaRPr lang="en-IN" dirty="0">
              <a:solidFill>
                <a:srgbClr val="1A1A2E"/>
              </a:solidFill>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At cycle 260: RUL = min(280-260, 120) = min(20, 120) = 20 </a:t>
            </a:r>
          </a:p>
          <a:p>
            <a:pPr>
              <a:buNone/>
            </a:pPr>
            <a:endParaRPr lang="en-IN" dirty="0">
              <a:solidFill>
                <a:srgbClr val="1A1A2E"/>
              </a:solidFill>
              <a:latin typeface="Arial" panose="020B0604020202020204" pitchFamily="34" charset="0"/>
              <a:ea typeface="Arial" panose="020B0604020202020204" pitchFamily="34" charset="0"/>
            </a:endParaRPr>
          </a:p>
          <a:p>
            <a:pPr>
              <a:buNone/>
            </a:pPr>
            <a:r>
              <a:rPr lang="en-IN" sz="1800" dirty="0">
                <a:solidFill>
                  <a:srgbClr val="1A1A2E"/>
                </a:solidFill>
                <a:effectLst/>
                <a:latin typeface="Arial" panose="020B0604020202020204" pitchFamily="34" charset="0"/>
                <a:ea typeface="Arial" panose="020B0604020202020204" pitchFamily="34" charset="0"/>
              </a:rPr>
              <a:t>At cycle 279: RUL = min(280-279, 120) = min(1, 120) = 1</a:t>
            </a:r>
            <a:endParaRPr lang="en-IN" dirty="0"/>
          </a:p>
        </p:txBody>
      </p:sp>
    </p:spTree>
    <p:extLst>
      <p:ext uri="{BB962C8B-B14F-4D97-AF65-F5344CB8AC3E}">
        <p14:creationId xmlns:p14="http://schemas.microsoft.com/office/powerpoint/2010/main" val="3512509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6D431FE-3BC4-D813-F48A-BEBB189D260F}"/>
              </a:ext>
            </a:extLst>
          </p:cNvPr>
          <p:cNvSpPr txBox="1"/>
          <p:nvPr/>
        </p:nvSpPr>
        <p:spPr>
          <a:xfrm>
            <a:off x="551028" y="405599"/>
            <a:ext cx="6097136" cy="400110"/>
          </a:xfrm>
          <a:prstGeom prst="rect">
            <a:avLst/>
          </a:prstGeom>
          <a:noFill/>
        </p:spPr>
        <p:txBody>
          <a:bodyPr wrap="square">
            <a:spAutoFit/>
          </a:bodyPr>
          <a:lstStyle>
            <a:defPPr>
              <a:defRPr lang="en-US"/>
            </a:defPPr>
            <a:lvl1pPr>
              <a:spcBef>
                <a:spcPts val="1500"/>
              </a:spcBef>
              <a:spcAft>
                <a:spcPts val="750"/>
              </a:spcAft>
              <a:buNone/>
              <a:defRPr sz="2000" b="1">
                <a:solidFill>
                  <a:srgbClr val="2E75B6"/>
                </a:solidFill>
                <a:effectLst/>
                <a:latin typeface="Arial" panose="020B0604020202020204" pitchFamily="34" charset="0"/>
              </a:defRPr>
            </a:lvl1pPr>
          </a:lstStyle>
          <a:p>
            <a:r>
              <a:rPr lang="en-IN" dirty="0"/>
              <a:t>Feature Engineering — Physics-Informed</a:t>
            </a:r>
          </a:p>
        </p:txBody>
      </p:sp>
      <p:sp>
        <p:nvSpPr>
          <p:cNvPr id="9" name="TextBox 8">
            <a:extLst>
              <a:ext uri="{FF2B5EF4-FFF2-40B4-BE49-F238E27FC236}">
                <a16:creationId xmlns:a16="http://schemas.microsoft.com/office/drawing/2014/main" id="{AD3BAFF0-3A86-3AA1-76A0-B4FD047B1E3B}"/>
              </a:ext>
            </a:extLst>
          </p:cNvPr>
          <p:cNvSpPr txBox="1"/>
          <p:nvPr/>
        </p:nvSpPr>
        <p:spPr>
          <a:xfrm>
            <a:off x="551028" y="981185"/>
            <a:ext cx="11363468" cy="4944943"/>
          </a:xfrm>
          <a:prstGeom prst="rect">
            <a:avLst/>
          </a:prstGeom>
          <a:noFill/>
        </p:spPr>
        <p:txBody>
          <a:bodyPr wrap="square">
            <a:spAutoFit/>
          </a:bodyPr>
          <a:lstStyle/>
          <a:p>
            <a:pPr>
              <a:spcBef>
                <a:spcPts val="1000"/>
              </a:spcBef>
              <a:spcAft>
                <a:spcPts val="500"/>
              </a:spcAft>
              <a:buNone/>
            </a:pPr>
            <a:r>
              <a:rPr lang="en-IN" sz="2000" b="1" dirty="0">
                <a:solidFill>
                  <a:srgbClr val="1A1A2E"/>
                </a:solidFill>
                <a:effectLst/>
                <a:latin typeface="Arial" panose="020B0604020202020204" pitchFamily="34" charset="0"/>
                <a:ea typeface="Arial" panose="020B0604020202020204" pitchFamily="34" charset="0"/>
              </a:rPr>
              <a:t>Category 1 — Rolling Statistics (480 features from 4 windows × 6 statistics)</a:t>
            </a:r>
            <a:endParaRPr lang="en-IN" sz="1800" dirty="0">
              <a:effectLst/>
              <a:latin typeface="Arial" panose="020B0604020202020204" pitchFamily="34" charset="0"/>
              <a:ea typeface="Arial" panose="020B0604020202020204" pitchFamily="34" charset="0"/>
            </a:endParaRPr>
          </a:p>
          <a:p>
            <a:pPr>
              <a:spcBef>
                <a:spcPts val="400"/>
              </a:spcBef>
              <a:spcAft>
                <a:spcPts val="400"/>
              </a:spcAft>
              <a:buNone/>
            </a:pPr>
            <a:r>
              <a:rPr lang="en-IN" sz="1800" dirty="0">
                <a:solidFill>
                  <a:srgbClr val="1A1A2E"/>
                </a:solidFill>
                <a:effectLst/>
                <a:latin typeface="Arial" panose="020B0604020202020204" pitchFamily="34" charset="0"/>
                <a:ea typeface="Arial" panose="020B0604020202020204" pitchFamily="34" charset="0"/>
              </a:rPr>
              <a:t>For each of the 20 sensor channels, the model computes statistics over a rolling window of recent cycles. Four window sizes are used (e.g., 5 cycles, 10 cycles, 30 cycles, 60 cycles) and six statistics per window:</a:t>
            </a:r>
            <a:endParaRPr lang="en-IN" sz="1800" dirty="0">
              <a:effectLst/>
              <a:latin typeface="Arial" panose="020B0604020202020204" pitchFamily="34" charset="0"/>
              <a:ea typeface="Arial" panose="020B0604020202020204" pitchFamily="34" charset="0"/>
            </a:endParaRPr>
          </a:p>
          <a:p>
            <a:pPr marL="342900" lvl="0" indent="-342900">
              <a:spcBef>
                <a:spcPts val="300"/>
              </a:spcBef>
              <a:spcAft>
                <a:spcPts val="300"/>
              </a:spcAft>
              <a:buFont typeface="Arial" panose="020B0604020202020204" pitchFamily="34" charset="0"/>
              <a:buChar char="•"/>
            </a:pPr>
            <a:r>
              <a:rPr lang="en-IN" sz="1800" dirty="0">
                <a:solidFill>
                  <a:srgbClr val="1A1A2E"/>
                </a:solidFill>
                <a:effectLst/>
                <a:latin typeface="Arial" panose="020B0604020202020204" pitchFamily="34" charset="0"/>
                <a:ea typeface="Arial" panose="020B0604020202020204" pitchFamily="34" charset="0"/>
              </a:rPr>
              <a:t>Mean (average value over the window)</a:t>
            </a:r>
            <a:endParaRPr lang="en-IN" sz="1800" dirty="0">
              <a:effectLst/>
              <a:latin typeface="Arial" panose="020B0604020202020204" pitchFamily="34" charset="0"/>
              <a:ea typeface="Arial" panose="020B0604020202020204" pitchFamily="34" charset="0"/>
            </a:endParaRPr>
          </a:p>
          <a:p>
            <a:pPr marL="342900" lvl="0" indent="-342900">
              <a:spcBef>
                <a:spcPts val="300"/>
              </a:spcBef>
              <a:spcAft>
                <a:spcPts val="300"/>
              </a:spcAft>
              <a:buFont typeface="Arial" panose="020B0604020202020204" pitchFamily="34" charset="0"/>
              <a:buChar char="•"/>
            </a:pPr>
            <a:r>
              <a:rPr lang="en-IN" sz="1800" dirty="0">
                <a:solidFill>
                  <a:srgbClr val="1A1A2E"/>
                </a:solidFill>
                <a:effectLst/>
                <a:latin typeface="Arial" panose="020B0604020202020204" pitchFamily="34" charset="0"/>
                <a:ea typeface="Arial" panose="020B0604020202020204" pitchFamily="34" charset="0"/>
              </a:rPr>
              <a:t>Standard deviation (how much the values vary — increasing std suggests growing instability)</a:t>
            </a:r>
            <a:endParaRPr lang="en-IN" sz="1800" dirty="0">
              <a:effectLst/>
              <a:latin typeface="Arial" panose="020B0604020202020204" pitchFamily="34" charset="0"/>
              <a:ea typeface="Arial" panose="020B0604020202020204" pitchFamily="34" charset="0"/>
            </a:endParaRPr>
          </a:p>
          <a:p>
            <a:pPr marL="342900" lvl="0" indent="-342900">
              <a:spcBef>
                <a:spcPts val="300"/>
              </a:spcBef>
              <a:spcAft>
                <a:spcPts val="300"/>
              </a:spcAft>
              <a:buFont typeface="Arial" panose="020B0604020202020204" pitchFamily="34" charset="0"/>
              <a:buChar char="•"/>
            </a:pPr>
            <a:r>
              <a:rPr lang="en-IN" sz="1800" dirty="0">
                <a:solidFill>
                  <a:srgbClr val="1A1A2E"/>
                </a:solidFill>
                <a:effectLst/>
                <a:latin typeface="Arial" panose="020B0604020202020204" pitchFamily="34" charset="0"/>
                <a:ea typeface="Arial" panose="020B0604020202020204" pitchFamily="34" charset="0"/>
              </a:rPr>
              <a:t>Minimum and Maximum (captures extreme events)</a:t>
            </a:r>
            <a:endParaRPr lang="en-IN" sz="1800" dirty="0">
              <a:effectLst/>
              <a:latin typeface="Arial" panose="020B0604020202020204" pitchFamily="34" charset="0"/>
              <a:ea typeface="Arial" panose="020B0604020202020204" pitchFamily="34" charset="0"/>
            </a:endParaRPr>
          </a:p>
          <a:p>
            <a:pPr marL="342900" lvl="0" indent="-342900">
              <a:spcBef>
                <a:spcPts val="300"/>
              </a:spcBef>
              <a:spcAft>
                <a:spcPts val="300"/>
              </a:spcAft>
              <a:buFont typeface="Arial" panose="020B0604020202020204" pitchFamily="34" charset="0"/>
              <a:buChar char="•"/>
            </a:pPr>
            <a:r>
              <a:rPr lang="en-IN" sz="1800" dirty="0">
                <a:solidFill>
                  <a:srgbClr val="1A1A2E"/>
                </a:solidFill>
                <a:effectLst/>
                <a:latin typeface="Arial" panose="020B0604020202020204" pitchFamily="34" charset="0"/>
                <a:ea typeface="Arial" panose="020B0604020202020204" pitchFamily="34" charset="0"/>
              </a:rPr>
              <a:t>Skewness (whether the distribution is lopsided — a sign of non-normal behaviour)</a:t>
            </a:r>
            <a:endParaRPr lang="en-IN" sz="1800" dirty="0">
              <a:effectLst/>
              <a:latin typeface="Arial" panose="020B0604020202020204" pitchFamily="34" charset="0"/>
              <a:ea typeface="Arial" panose="020B0604020202020204" pitchFamily="34" charset="0"/>
            </a:endParaRPr>
          </a:p>
          <a:p>
            <a:pPr marL="342900" lvl="0" indent="-342900">
              <a:spcBef>
                <a:spcPts val="300"/>
              </a:spcBef>
              <a:spcAft>
                <a:spcPts val="300"/>
              </a:spcAft>
              <a:buFont typeface="Arial" panose="020B0604020202020204" pitchFamily="34" charset="0"/>
              <a:buChar char="•"/>
            </a:pPr>
            <a:r>
              <a:rPr lang="en-IN" sz="1800" dirty="0">
                <a:solidFill>
                  <a:srgbClr val="1A1A2E"/>
                </a:solidFill>
                <a:effectLst/>
                <a:latin typeface="Arial" panose="020B0604020202020204" pitchFamily="34" charset="0"/>
                <a:ea typeface="Arial" panose="020B0604020202020204" pitchFamily="34" charset="0"/>
              </a:rPr>
              <a:t>Rate of change (how fast the average is moving)</a:t>
            </a:r>
          </a:p>
          <a:p>
            <a:pPr marL="342900" lvl="0" indent="-342900">
              <a:spcBef>
                <a:spcPts val="300"/>
              </a:spcBef>
              <a:spcAft>
                <a:spcPts val="300"/>
              </a:spcAft>
              <a:buFont typeface="Arial" panose="020B0604020202020204" pitchFamily="34" charset="0"/>
              <a:buChar char="•"/>
            </a:pPr>
            <a:endParaRPr lang="en-IN" dirty="0">
              <a:solidFill>
                <a:srgbClr val="1A1A2E"/>
              </a:solidFill>
              <a:latin typeface="Arial" panose="020B0604020202020204" pitchFamily="34" charset="0"/>
              <a:ea typeface="Arial" panose="020B0604020202020204" pitchFamily="34" charset="0"/>
            </a:endParaRPr>
          </a:p>
          <a:p>
            <a:r>
              <a:rPr lang="en-IN" b="1" dirty="0"/>
              <a:t>Category 2 — OLS Slope and Curvature (120 features from 3 windows)</a:t>
            </a:r>
            <a:endParaRPr lang="en-IN" dirty="0"/>
          </a:p>
          <a:p>
            <a:r>
              <a:rPr lang="en-IN" dirty="0"/>
              <a:t>OLS stands for Ordinary Least Squares — the classic method for fitting a straight line through a set of data points. Here, a straight line is fitted through the sensor readings in the last N cycles. The slope of that line tells you: 'Is this sensor trending upward? How fast?' The curvature (from a quadratic fit) tells you: 'Is the trend accelerating?' An accelerating degradation trend is a much more urgent signal than a slow steady drift.</a:t>
            </a:r>
          </a:p>
          <a:p>
            <a:pPr lvl="0">
              <a:spcBef>
                <a:spcPts val="300"/>
              </a:spcBef>
              <a:spcAft>
                <a:spcPts val="300"/>
              </a:spcAft>
            </a:pPr>
            <a:endParaRPr lang="en-IN"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896129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D5755-8B82-4923-667D-C923DFC092C7}"/>
              </a:ext>
            </a:extLst>
          </p:cNvPr>
          <p:cNvSpPr txBox="1"/>
          <p:nvPr/>
        </p:nvSpPr>
        <p:spPr>
          <a:xfrm>
            <a:off x="551028" y="405599"/>
            <a:ext cx="6097136" cy="400110"/>
          </a:xfrm>
          <a:prstGeom prst="rect">
            <a:avLst/>
          </a:prstGeom>
          <a:noFill/>
        </p:spPr>
        <p:txBody>
          <a:bodyPr wrap="square">
            <a:spAutoFit/>
          </a:bodyPr>
          <a:lstStyle>
            <a:defPPr>
              <a:defRPr lang="en-US"/>
            </a:defPPr>
            <a:lvl1pPr>
              <a:spcBef>
                <a:spcPts val="1500"/>
              </a:spcBef>
              <a:spcAft>
                <a:spcPts val="750"/>
              </a:spcAft>
              <a:buNone/>
              <a:defRPr sz="2000" b="1">
                <a:solidFill>
                  <a:srgbClr val="2E75B6"/>
                </a:solidFill>
                <a:effectLst/>
                <a:latin typeface="Arial" panose="020B0604020202020204" pitchFamily="34" charset="0"/>
              </a:defRPr>
            </a:lvl1pPr>
          </a:lstStyle>
          <a:p>
            <a:r>
              <a:rPr lang="en-IN" dirty="0"/>
              <a:t>Feature Engineering — Physics-Informed</a:t>
            </a:r>
          </a:p>
        </p:txBody>
      </p:sp>
      <p:sp>
        <p:nvSpPr>
          <p:cNvPr id="6" name="TextBox 5">
            <a:extLst>
              <a:ext uri="{FF2B5EF4-FFF2-40B4-BE49-F238E27FC236}">
                <a16:creationId xmlns:a16="http://schemas.microsoft.com/office/drawing/2014/main" id="{58D47562-5E44-3248-CF55-D7D0276C606E}"/>
              </a:ext>
            </a:extLst>
          </p:cNvPr>
          <p:cNvSpPr txBox="1"/>
          <p:nvPr/>
        </p:nvSpPr>
        <p:spPr>
          <a:xfrm>
            <a:off x="551027" y="1018205"/>
            <a:ext cx="11302053" cy="5501506"/>
          </a:xfrm>
          <a:prstGeom prst="rect">
            <a:avLst/>
          </a:prstGeom>
          <a:noFill/>
        </p:spPr>
        <p:txBody>
          <a:bodyPr wrap="square">
            <a:spAutoFit/>
          </a:bodyPr>
          <a:lstStyle/>
          <a:p>
            <a:pPr>
              <a:spcBef>
                <a:spcPts val="1000"/>
              </a:spcBef>
              <a:spcAft>
                <a:spcPts val="500"/>
              </a:spcAft>
              <a:buNone/>
            </a:pPr>
            <a:r>
              <a:rPr lang="en-IN" b="1" dirty="0">
                <a:solidFill>
                  <a:srgbClr val="1A1A2E"/>
                </a:solidFill>
                <a:effectLst/>
                <a:latin typeface="Arial" panose="020B0604020202020204" pitchFamily="34" charset="0"/>
                <a:ea typeface="Arial" panose="020B0604020202020204" pitchFamily="34" charset="0"/>
              </a:rPr>
              <a:t>Category 3 — EWMA Level and Deviation (120 features from 3 alphas)</a:t>
            </a:r>
            <a:endParaRPr lang="en-IN" sz="1600" dirty="0">
              <a:effectLst/>
              <a:latin typeface="Arial" panose="020B0604020202020204" pitchFamily="34" charset="0"/>
              <a:ea typeface="Arial" panose="020B0604020202020204" pitchFamily="34" charset="0"/>
            </a:endParaRPr>
          </a:p>
          <a:p>
            <a:pPr>
              <a:spcBef>
                <a:spcPts val="400"/>
              </a:spcBef>
              <a:spcAft>
                <a:spcPts val="400"/>
              </a:spcAft>
              <a:buNone/>
            </a:pPr>
            <a:r>
              <a:rPr lang="en-IN" sz="1600" dirty="0">
                <a:solidFill>
                  <a:srgbClr val="1A1A2E"/>
                </a:solidFill>
                <a:effectLst/>
                <a:latin typeface="Arial" panose="020B0604020202020204" pitchFamily="34" charset="0"/>
                <a:ea typeface="Arial" panose="020B0604020202020204" pitchFamily="34" charset="0"/>
              </a:rPr>
              <a:t>EWMA stands for Exponentially Weighted Moving Average. Unlike a simple rolling average where all past readings are weighted equally, EWMA gives more weight to recent readings and less weight to older ones. The 'alpha' parameter controls how quickly old data is forgotten. A small alpha = long memory (slow to react). A large alpha = short memory (reacts quickly to new readings). By computing EWMA at three different alpha values, the model captures both long-term drift and short-term spikes.</a:t>
            </a:r>
          </a:p>
          <a:p>
            <a:pPr>
              <a:spcBef>
                <a:spcPts val="400"/>
              </a:spcBef>
              <a:spcAft>
                <a:spcPts val="400"/>
              </a:spcAft>
              <a:buNone/>
            </a:pPr>
            <a:endParaRPr lang="en-IN" sz="1600" dirty="0">
              <a:solidFill>
                <a:srgbClr val="1A1A2E"/>
              </a:solidFill>
              <a:latin typeface="Arial" panose="020B0604020202020204" pitchFamily="34" charset="0"/>
              <a:ea typeface="Arial" panose="020B0604020202020204" pitchFamily="34" charset="0"/>
            </a:endParaRPr>
          </a:p>
          <a:p>
            <a:r>
              <a:rPr lang="en-IN" sz="1600" b="1" dirty="0"/>
              <a:t>Category 4 — Baseline Z-Score (40 features — the most important category)</a:t>
            </a:r>
            <a:endParaRPr lang="en-IN" sz="1600" dirty="0"/>
          </a:p>
          <a:p>
            <a:r>
              <a:rPr lang="en-IN" sz="1600" dirty="0"/>
              <a:t>This is the most clever feature. The problem with raw sensor readings is that every pump is slightly different from the factory — manufacturing variation. Pump A might have a natural vibration of 2.3 units when healthy; Pump B might have 3.1 units healthy. If you just look at the raw reading, 3.1 looks more alarming, but it's perfectly normal for Pump B.</a:t>
            </a:r>
          </a:p>
          <a:p>
            <a:r>
              <a:rPr lang="en-IN" sz="1600" dirty="0"/>
              <a:t> </a:t>
            </a:r>
          </a:p>
          <a:p>
            <a:r>
              <a:rPr lang="en-IN" sz="1600" dirty="0"/>
              <a:t>The baseline z-score solves this. For each pump, the team computes the mean and standard deviation of each sensor over the first 20 cycles of that pump's life (when it's brand new and definitely healthy). The z-score is then:</a:t>
            </a:r>
          </a:p>
          <a:p>
            <a:pPr>
              <a:spcBef>
                <a:spcPts val="400"/>
              </a:spcBef>
              <a:spcAft>
                <a:spcPts val="400"/>
              </a:spcAft>
              <a:buNone/>
            </a:pPr>
            <a:endParaRPr lang="en-IN" sz="1600" dirty="0">
              <a:effectLst/>
              <a:latin typeface="Arial" panose="020B0604020202020204" pitchFamily="34" charset="0"/>
              <a:ea typeface="Arial" panose="020B0604020202020204" pitchFamily="34" charset="0"/>
            </a:endParaRPr>
          </a:p>
          <a:p>
            <a:r>
              <a:rPr lang="en-IN" sz="1600" b="1" dirty="0"/>
              <a:t>Category 5 — Cross-Sensor Interactions (~10 features)</a:t>
            </a:r>
          </a:p>
          <a:p>
            <a:r>
              <a:rPr lang="en-IN" sz="1600" dirty="0"/>
              <a:t>Some degradation patterns only show up in the relationship between two sensors, not in either sensor individually. For example, pump efficiency = output flow / input power. A pump can degrade while maintaining normal flow (because the motor works harder) — so individual sensors look fine but efficiency drops. Cross-sensor features capture these relationships.</a:t>
            </a:r>
          </a:p>
          <a:p>
            <a:pPr>
              <a:spcBef>
                <a:spcPts val="400"/>
              </a:spcBef>
              <a:spcAft>
                <a:spcPts val="400"/>
              </a:spcAft>
              <a:buNone/>
            </a:pPr>
            <a:endParaRPr lang="en-IN"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089863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86FA63-2829-E849-AC2F-180469C101BB}"/>
              </a:ext>
            </a:extLst>
          </p:cNvPr>
          <p:cNvSpPr txBox="1"/>
          <p:nvPr/>
        </p:nvSpPr>
        <p:spPr>
          <a:xfrm>
            <a:off x="619267" y="282770"/>
            <a:ext cx="7235019" cy="400110"/>
          </a:xfrm>
          <a:prstGeom prst="rect">
            <a:avLst/>
          </a:prstGeom>
          <a:noFill/>
        </p:spPr>
        <p:txBody>
          <a:bodyPr wrap="square">
            <a:spAutoFit/>
          </a:bodyPr>
          <a:lstStyle>
            <a:defPPr>
              <a:defRPr lang="en-US"/>
            </a:defPPr>
            <a:lvl1pPr>
              <a:spcBef>
                <a:spcPts val="1500"/>
              </a:spcBef>
              <a:spcAft>
                <a:spcPts val="750"/>
              </a:spcAft>
              <a:buNone/>
              <a:defRPr sz="2000" b="1">
                <a:solidFill>
                  <a:srgbClr val="2E75B6"/>
                </a:solidFill>
                <a:effectLst/>
                <a:latin typeface="Arial" panose="020B0604020202020204" pitchFamily="34" charset="0"/>
              </a:defRPr>
            </a:lvl1pPr>
          </a:lstStyle>
          <a:p>
            <a:r>
              <a:rPr lang="en-IN" dirty="0"/>
              <a:t>Feature Selection: Reducing 790 Candidates to 150</a:t>
            </a:r>
          </a:p>
        </p:txBody>
      </p:sp>
      <p:graphicFrame>
        <p:nvGraphicFramePr>
          <p:cNvPr id="6" name="Table 5">
            <a:extLst>
              <a:ext uri="{FF2B5EF4-FFF2-40B4-BE49-F238E27FC236}">
                <a16:creationId xmlns:a16="http://schemas.microsoft.com/office/drawing/2014/main" id="{C19D0792-6168-D763-E5BB-F73E32A13A59}"/>
              </a:ext>
            </a:extLst>
          </p:cNvPr>
          <p:cNvGraphicFramePr>
            <a:graphicFrameLocks noGrp="1"/>
          </p:cNvGraphicFramePr>
          <p:nvPr>
            <p:extLst>
              <p:ext uri="{D42A27DB-BD31-4B8C-83A1-F6EECF244321}">
                <p14:modId xmlns:p14="http://schemas.microsoft.com/office/powerpoint/2010/main" val="2660701345"/>
              </p:ext>
            </p:extLst>
          </p:nvPr>
        </p:nvGraphicFramePr>
        <p:xfrm>
          <a:off x="619267" y="3115648"/>
          <a:ext cx="10851676" cy="647700"/>
        </p:xfrm>
        <a:graphic>
          <a:graphicData uri="http://schemas.openxmlformats.org/drawingml/2006/table">
            <a:tbl>
              <a:tblPr firstRow="1" firstCol="1" bandRow="1">
                <a:tableStyleId>{5C22544A-7EE6-4342-B048-85BDC9FD1C3A}</a:tableStyleId>
              </a:tblPr>
              <a:tblGrid>
                <a:gridCol w="10851676">
                  <a:extLst>
                    <a:ext uri="{9D8B030D-6E8A-4147-A177-3AD203B41FA5}">
                      <a16:colId xmlns:a16="http://schemas.microsoft.com/office/drawing/2014/main" val="2692179139"/>
                    </a:ext>
                  </a:extLst>
                </a:gridCol>
              </a:tblGrid>
              <a:tr h="0">
                <a:tc>
                  <a:txBody>
                    <a:bodyPr/>
                    <a:lstStyle/>
                    <a:p>
                      <a:pPr>
                        <a:buNone/>
                      </a:pPr>
                      <a:r>
                        <a:rPr lang="en-IN" sz="1000" dirty="0">
                          <a:effectLst/>
                        </a:rPr>
                        <a:t>📖 Concept: Feature Importance by Gain</a:t>
                      </a:r>
                      <a:endParaRPr lang="en-IN" sz="1100" dirty="0">
                        <a:effectLst/>
                      </a:endParaRPr>
                    </a:p>
                    <a:p>
                      <a:pPr>
                        <a:spcBef>
                          <a:spcPts val="300"/>
                        </a:spcBef>
                        <a:buNone/>
                      </a:pPr>
                      <a:r>
                        <a:rPr lang="en-IN" sz="1000" dirty="0" err="1">
                          <a:effectLst/>
                        </a:rPr>
                        <a:t>XGBoost</a:t>
                      </a:r>
                      <a:r>
                        <a:rPr lang="en-IN" sz="1000" dirty="0">
                          <a:effectLst/>
                        </a:rPr>
                        <a:t> Gain Importance: Every time a feature is used to split the data in a decision tree, the improvement in prediction accuracy is recorded as the 'gain' for that feature. Summing all gains across all trees gives a total importance score. High-gain features are the most useful predictors.</a:t>
                      </a:r>
                      <a:endParaRPr lang="en-IN" sz="1100" dirty="0">
                        <a:effectLst/>
                        <a:latin typeface="Arial" panose="020B0604020202020204" pitchFamily="34" charset="0"/>
                        <a:ea typeface="Arial" panose="020B0604020202020204" pitchFamily="34" charset="0"/>
                      </a:endParaRPr>
                    </a:p>
                  </a:txBody>
                  <a:tcPr marL="101600" marR="101600" marT="76200" marB="76200"/>
                </a:tc>
                <a:extLst>
                  <a:ext uri="{0D108BD9-81ED-4DB2-BD59-A6C34878D82A}">
                    <a16:rowId xmlns:a16="http://schemas.microsoft.com/office/drawing/2014/main" val="1380508335"/>
                  </a:ext>
                </a:extLst>
              </a:tr>
            </a:tbl>
          </a:graphicData>
        </a:graphic>
      </p:graphicFrame>
      <p:sp>
        <p:nvSpPr>
          <p:cNvPr id="8" name="TextBox 7">
            <a:extLst>
              <a:ext uri="{FF2B5EF4-FFF2-40B4-BE49-F238E27FC236}">
                <a16:creationId xmlns:a16="http://schemas.microsoft.com/office/drawing/2014/main" id="{92C11BBF-EC17-9141-6145-6E1D47A3C2DA}"/>
              </a:ext>
            </a:extLst>
          </p:cNvPr>
          <p:cNvSpPr txBox="1"/>
          <p:nvPr/>
        </p:nvSpPr>
        <p:spPr>
          <a:xfrm>
            <a:off x="619267" y="958855"/>
            <a:ext cx="11349820" cy="5260414"/>
          </a:xfrm>
          <a:prstGeom prst="rect">
            <a:avLst/>
          </a:prstGeom>
          <a:noFill/>
        </p:spPr>
        <p:txBody>
          <a:bodyPr wrap="square">
            <a:spAutoFit/>
          </a:bodyPr>
          <a:lstStyle/>
          <a:p>
            <a:pPr>
              <a:spcBef>
                <a:spcPts val="400"/>
              </a:spcBef>
              <a:spcAft>
                <a:spcPts val="400"/>
              </a:spcAft>
              <a:buNone/>
            </a:pPr>
            <a:r>
              <a:rPr lang="en-IN" sz="1800" dirty="0">
                <a:solidFill>
                  <a:srgbClr val="1A1A2E"/>
                </a:solidFill>
                <a:effectLst/>
                <a:latin typeface="Arial" panose="020B0604020202020204" pitchFamily="34" charset="0"/>
                <a:ea typeface="Arial" panose="020B0604020202020204" pitchFamily="34" charset="0"/>
              </a:rPr>
              <a:t>After building all ~790 candidate features, a two-step selection process reduces them to the 150 most informative:</a:t>
            </a:r>
            <a:endParaRPr lang="en-IN" sz="1800" dirty="0">
              <a:effectLst/>
              <a:latin typeface="Arial" panose="020B0604020202020204" pitchFamily="34" charset="0"/>
              <a:ea typeface="Arial" panose="020B0604020202020204" pitchFamily="34" charset="0"/>
            </a:endParaRPr>
          </a:p>
          <a:p>
            <a:pPr>
              <a:spcBef>
                <a:spcPts val="1000"/>
              </a:spcBef>
              <a:spcAft>
                <a:spcPts val="500"/>
              </a:spcAft>
              <a:buNone/>
            </a:pPr>
            <a:r>
              <a:rPr lang="en-IN" sz="2000" b="1" dirty="0">
                <a:solidFill>
                  <a:srgbClr val="1A1A2E"/>
                </a:solidFill>
                <a:effectLst/>
                <a:latin typeface="Arial" panose="020B0604020202020204" pitchFamily="34" charset="0"/>
                <a:ea typeface="Arial" panose="020B0604020202020204" pitchFamily="34" charset="0"/>
              </a:rPr>
              <a:t>Step 1 and 2 — </a:t>
            </a:r>
            <a:r>
              <a:rPr lang="en-IN" sz="2000" b="1" dirty="0" err="1">
                <a:solidFill>
                  <a:srgbClr val="1A1A2E"/>
                </a:solidFill>
                <a:effectLst/>
                <a:latin typeface="Arial" panose="020B0604020202020204" pitchFamily="34" charset="0"/>
                <a:ea typeface="Arial" panose="020B0604020202020204" pitchFamily="34" charset="0"/>
              </a:rPr>
              <a:t>XGBoost</a:t>
            </a:r>
            <a:r>
              <a:rPr lang="en-IN" sz="2000" b="1" dirty="0">
                <a:solidFill>
                  <a:srgbClr val="1A1A2E"/>
                </a:solidFill>
                <a:effectLst/>
                <a:latin typeface="Arial" panose="020B0604020202020204" pitchFamily="34" charset="0"/>
                <a:ea typeface="Arial" panose="020B0604020202020204" pitchFamily="34" charset="0"/>
              </a:rPr>
              <a:t> Gain Importance</a:t>
            </a:r>
            <a:endParaRPr lang="en-IN" sz="1800" dirty="0">
              <a:effectLst/>
              <a:latin typeface="Arial" panose="020B0604020202020204" pitchFamily="34" charset="0"/>
              <a:ea typeface="Arial" panose="020B0604020202020204" pitchFamily="34" charset="0"/>
            </a:endParaRPr>
          </a:p>
          <a:p>
            <a:pPr>
              <a:spcBef>
                <a:spcPts val="400"/>
              </a:spcBef>
              <a:spcAft>
                <a:spcPts val="400"/>
              </a:spcAft>
              <a:buNone/>
            </a:pPr>
            <a:r>
              <a:rPr lang="en-IN" sz="1800" dirty="0">
                <a:solidFill>
                  <a:srgbClr val="1A1A2E"/>
                </a:solidFill>
                <a:effectLst/>
                <a:latin typeface="Arial" panose="020B0604020202020204" pitchFamily="34" charset="0"/>
                <a:ea typeface="Arial" panose="020B0604020202020204" pitchFamily="34" charset="0"/>
              </a:rPr>
              <a:t>A quick </a:t>
            </a:r>
            <a:r>
              <a:rPr lang="en-IN" sz="1800" dirty="0" err="1">
                <a:solidFill>
                  <a:srgbClr val="1A1A2E"/>
                </a:solidFill>
                <a:effectLst/>
                <a:latin typeface="Arial" panose="020B0604020202020204" pitchFamily="34" charset="0"/>
                <a:ea typeface="Arial" panose="020B0604020202020204" pitchFamily="34" charset="0"/>
              </a:rPr>
              <a:t>XGBoost</a:t>
            </a:r>
            <a:r>
              <a:rPr lang="en-IN" sz="1800" dirty="0">
                <a:solidFill>
                  <a:srgbClr val="1A1A2E"/>
                </a:solidFill>
                <a:effectLst/>
                <a:latin typeface="Arial" panose="020B0604020202020204" pitchFamily="34" charset="0"/>
                <a:ea typeface="Arial" panose="020B0604020202020204" pitchFamily="34" charset="0"/>
              </a:rPr>
              <a:t> model is trained on all 790 features. </a:t>
            </a:r>
            <a:r>
              <a:rPr lang="en-IN" sz="1800" dirty="0" err="1">
                <a:solidFill>
                  <a:srgbClr val="1A1A2E"/>
                </a:solidFill>
                <a:effectLst/>
                <a:latin typeface="Arial" panose="020B0604020202020204" pitchFamily="34" charset="0"/>
                <a:ea typeface="Arial" panose="020B0604020202020204" pitchFamily="34" charset="0"/>
              </a:rPr>
              <a:t>XGBoost</a:t>
            </a:r>
            <a:r>
              <a:rPr lang="en-IN" sz="1800" dirty="0">
                <a:solidFill>
                  <a:srgbClr val="1A1A2E"/>
                </a:solidFill>
                <a:effectLst/>
                <a:latin typeface="Arial" panose="020B0604020202020204" pitchFamily="34" charset="0"/>
                <a:ea typeface="Arial" panose="020B0604020202020204" pitchFamily="34" charset="0"/>
              </a:rPr>
              <a:t> tracks 'gain' for each feature — how much that feature improved the model's predictions each time it was used in a decision split. The top 150 features by gain are kept.</a:t>
            </a:r>
          </a:p>
          <a:p>
            <a:pPr>
              <a:spcBef>
                <a:spcPts val="400"/>
              </a:spcBef>
              <a:spcAft>
                <a:spcPts val="400"/>
              </a:spcAft>
              <a:buNone/>
            </a:pPr>
            <a:endParaRPr lang="en-IN" dirty="0">
              <a:solidFill>
                <a:srgbClr val="1A1A2E"/>
              </a:solidFill>
              <a:latin typeface="Arial" panose="020B0604020202020204" pitchFamily="34" charset="0"/>
              <a:ea typeface="Arial" panose="020B0604020202020204" pitchFamily="34" charset="0"/>
            </a:endParaRPr>
          </a:p>
          <a:p>
            <a:pPr>
              <a:spcBef>
                <a:spcPts val="400"/>
              </a:spcBef>
              <a:spcAft>
                <a:spcPts val="400"/>
              </a:spcAft>
              <a:buNone/>
            </a:pPr>
            <a:endParaRPr lang="en-IN" sz="1800" dirty="0">
              <a:solidFill>
                <a:srgbClr val="1A1A2E"/>
              </a:solidFill>
              <a:effectLst/>
              <a:latin typeface="Arial" panose="020B0604020202020204" pitchFamily="34" charset="0"/>
              <a:ea typeface="Arial" panose="020B0604020202020204" pitchFamily="34" charset="0"/>
            </a:endParaRPr>
          </a:p>
          <a:p>
            <a:pPr>
              <a:spcBef>
                <a:spcPts val="400"/>
              </a:spcBef>
              <a:spcAft>
                <a:spcPts val="400"/>
              </a:spcAft>
              <a:buNone/>
            </a:pPr>
            <a:endParaRPr lang="en-IN" dirty="0">
              <a:solidFill>
                <a:srgbClr val="1A1A2E"/>
              </a:solidFill>
              <a:latin typeface="Arial" panose="020B0604020202020204" pitchFamily="34" charset="0"/>
              <a:ea typeface="Arial" panose="020B0604020202020204" pitchFamily="34" charset="0"/>
            </a:endParaRPr>
          </a:p>
          <a:p>
            <a:r>
              <a:rPr lang="en-IN" b="1" dirty="0"/>
              <a:t>Step 3 — SHAP </a:t>
            </a:r>
            <a:r>
              <a:rPr lang="en-IN" b="1" dirty="0" err="1"/>
              <a:t>Beeswarm</a:t>
            </a:r>
            <a:r>
              <a:rPr lang="en-IN" b="1" dirty="0"/>
              <a:t> Validation</a:t>
            </a:r>
            <a:endParaRPr lang="en-IN" dirty="0"/>
          </a:p>
          <a:p>
            <a:r>
              <a:rPr lang="en-IN" dirty="0"/>
              <a:t>SHAP stands for </a:t>
            </a:r>
            <a:r>
              <a:rPr lang="en-IN" dirty="0" err="1"/>
              <a:t>SHapley</a:t>
            </a:r>
            <a:r>
              <a:rPr lang="en-IN" dirty="0"/>
              <a:t> Additive </a:t>
            </a:r>
            <a:r>
              <a:rPr lang="en-IN" dirty="0" err="1"/>
              <a:t>exPlanations</a:t>
            </a:r>
            <a:r>
              <a:rPr lang="en-IN" dirty="0"/>
              <a:t>. It's a game theory-based technique that calculates, for each prediction, exactly how much each feature contributed to pushing the prediction above or below the average. A </a:t>
            </a:r>
            <a:r>
              <a:rPr lang="en-IN" dirty="0" err="1"/>
              <a:t>beeswarm</a:t>
            </a:r>
            <a:r>
              <a:rPr lang="en-IN" dirty="0"/>
              <a:t> plot shows every training example as a dot — you can see whether high z-score (red dots) always pushes RUL down (meaning: high z-score = more degraded = less life remaining). If the direction makes physical sense, the feature is validated.</a:t>
            </a:r>
            <a:endParaRPr lang="en-IN" sz="1800" dirty="0">
              <a:effectLst/>
              <a:latin typeface="Arial" panose="020B0604020202020204" pitchFamily="34" charset="0"/>
              <a:ea typeface="Arial" panose="020B0604020202020204" pitchFamily="34" charset="0"/>
            </a:endParaRPr>
          </a:p>
          <a:p>
            <a:pPr>
              <a:spcBef>
                <a:spcPts val="400"/>
              </a:spcBef>
              <a:spcAft>
                <a:spcPts val="400"/>
              </a:spcAft>
              <a:buNone/>
            </a:pPr>
            <a:r>
              <a:rPr lang="en-IN" sz="1800" dirty="0">
                <a:effectLst/>
                <a:latin typeface="Arial" panose="020B0604020202020204" pitchFamily="34" charset="0"/>
                <a:ea typeface="Arial" panose="020B0604020202020204" pitchFamily="34" charset="0"/>
              </a:rPr>
              <a:t> </a:t>
            </a:r>
          </a:p>
        </p:txBody>
      </p:sp>
    </p:spTree>
    <p:extLst>
      <p:ext uri="{BB962C8B-B14F-4D97-AF65-F5344CB8AC3E}">
        <p14:creationId xmlns:p14="http://schemas.microsoft.com/office/powerpoint/2010/main" val="3309458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5B49181-1462-6D23-4A47-4B3DA1F5A1EE}"/>
              </a:ext>
            </a:extLst>
          </p:cNvPr>
          <p:cNvSpPr txBox="1"/>
          <p:nvPr/>
        </p:nvSpPr>
        <p:spPr>
          <a:xfrm>
            <a:off x="626091" y="385128"/>
            <a:ext cx="6097136" cy="400110"/>
          </a:xfrm>
          <a:prstGeom prst="rect">
            <a:avLst/>
          </a:prstGeom>
          <a:noFill/>
        </p:spPr>
        <p:txBody>
          <a:bodyPr wrap="square">
            <a:spAutoFit/>
          </a:bodyPr>
          <a:lstStyle>
            <a:defPPr>
              <a:defRPr lang="en-US"/>
            </a:defPPr>
            <a:lvl1pPr>
              <a:spcBef>
                <a:spcPts val="1500"/>
              </a:spcBef>
              <a:spcAft>
                <a:spcPts val="750"/>
              </a:spcAft>
              <a:buNone/>
              <a:defRPr sz="2000" b="1">
                <a:solidFill>
                  <a:srgbClr val="2E75B6"/>
                </a:solidFill>
                <a:effectLst/>
                <a:latin typeface="Arial" panose="020B0604020202020204" pitchFamily="34" charset="0"/>
              </a:defRPr>
            </a:lvl1pPr>
          </a:lstStyle>
          <a:p>
            <a:r>
              <a:rPr lang="en-US" dirty="0"/>
              <a:t>Model Architecture — Why Not Deep Learning? </a:t>
            </a:r>
            <a:endParaRPr lang="en-IN" dirty="0"/>
          </a:p>
        </p:txBody>
      </p:sp>
    </p:spTree>
    <p:extLst>
      <p:ext uri="{BB962C8B-B14F-4D97-AF65-F5344CB8AC3E}">
        <p14:creationId xmlns:p14="http://schemas.microsoft.com/office/powerpoint/2010/main" val="4029904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1978</Words>
  <Application>Microsoft Office PowerPoint</Application>
  <PresentationFormat>Widescreen</PresentationFormat>
  <Paragraphs>145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Sangita Das</dc:creator>
  <cp:lastModifiedBy>Sangita Das</cp:lastModifiedBy>
  <cp:revision>12</cp:revision>
  <dcterms:created xsi:type="dcterms:W3CDTF">2026-05-26T16:02:06Z</dcterms:created>
  <dcterms:modified xsi:type="dcterms:W3CDTF">2026-05-26T18:17:31Z</dcterms:modified>
</cp:coreProperties>
</file>